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8"/>
  </p:notesMasterIdLst>
  <p:sldIdLst>
    <p:sldId id="257" r:id="rId2"/>
    <p:sldId id="258" r:id="rId3"/>
    <p:sldId id="259" r:id="rId4"/>
    <p:sldId id="260" r:id="rId5"/>
    <p:sldId id="261" r:id="rId6"/>
    <p:sldId id="273" r:id="rId7"/>
    <p:sldId id="272" r:id="rId8"/>
    <p:sldId id="256" r:id="rId9"/>
    <p:sldId id="262" r:id="rId10"/>
    <p:sldId id="263" r:id="rId11"/>
    <p:sldId id="264" r:id="rId12"/>
    <p:sldId id="267" r:id="rId13"/>
    <p:sldId id="268" r:id="rId14"/>
    <p:sldId id="269" r:id="rId15"/>
    <p:sldId id="270" r:id="rId16"/>
    <p:sldId id="271" r:id="rId17"/>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CE5DC"/>
    <a:srgbClr val="FAC0B0"/>
    <a:srgbClr val="CC3300"/>
    <a:srgbClr val="FFB48F"/>
    <a:srgbClr val="E64D00"/>
    <a:srgbClr val="FF99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3" d="100"/>
          <a:sy n="63" d="100"/>
        </p:scale>
        <p:origin x="77" y="720"/>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68"/>
        <p:cNvGrpSpPr/>
        <p:nvPr/>
      </p:nvGrpSpPr>
      <p:grpSpPr>
        <a:xfrm>
          <a:off x="0" y="0"/>
          <a:ext cx="0" cy="0"/>
          <a:chOff x="0" y="0"/>
          <a:chExt cx="0" cy="0"/>
        </a:xfrm>
      </p:grpSpPr>
      <p:sp>
        <p:nvSpPr>
          <p:cNvPr id="69" name="Google Shape;69;n"/>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0" name="Google Shape;70;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rtl="0">
              <a:spcBef>
                <a:spcPts val="0"/>
              </a:spcBef>
              <a:spcAft>
                <a:spcPts val="0"/>
              </a:spcAft>
              <a:buSzPts val="1100"/>
              <a:buChar char="●"/>
              <a:defRPr sz="1100"/>
            </a:lvl1pPr>
            <a:lvl2pPr marL="914400" lvl="1" indent="-298450" rtl="0">
              <a:spcBef>
                <a:spcPts val="0"/>
              </a:spcBef>
              <a:spcAft>
                <a:spcPts val="0"/>
              </a:spcAft>
              <a:buSzPts val="1100"/>
              <a:buChar char="○"/>
              <a:defRPr sz="1100"/>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g4235516f240aa919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4" name="Google Shape;124;g4235516f240aa919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2104381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2453821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E7A334-2A18-ADA0-C415-66DB814596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092681-12EC-F442-3297-644DC99A8E52}"/>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6E0DC696-DA6A-A5A4-28E3-105619F48BB2}"/>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3003409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75"/>
        <p:cNvGrpSpPr/>
        <p:nvPr/>
      </p:nvGrpSpPr>
      <p:grpSpPr>
        <a:xfrm>
          <a:off x="0" y="0"/>
          <a:ext cx="0" cy="0"/>
          <a:chOff x="0" y="0"/>
          <a:chExt cx="0" cy="0"/>
        </a:xfrm>
      </p:grpSpPr>
      <p:sp>
        <p:nvSpPr>
          <p:cNvPr id="76" name="Google Shape;76;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rtl="0">
              <a:spcBef>
                <a:spcPts val="0"/>
              </a:spcBef>
              <a:spcAft>
                <a:spcPts val="0"/>
              </a:spcAft>
              <a:buSzPts val="5200"/>
              <a:buNone/>
              <a:defRPr sz="5200"/>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
        <p:nvSpPr>
          <p:cNvPr id="77" name="Google Shape;77;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rtl="0">
              <a:lnSpc>
                <a:spcPct val="100000"/>
              </a:lnSpc>
              <a:spcBef>
                <a:spcPts val="0"/>
              </a:spcBef>
              <a:spcAft>
                <a:spcPts val="0"/>
              </a:spcAft>
              <a:buSzPts val="2800"/>
              <a:buNone/>
              <a:defRPr sz="280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78" name="Google Shape;78;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79"/>
        <p:cNvGrpSpPr/>
        <p:nvPr/>
      </p:nvGrpSpPr>
      <p:grpSpPr>
        <a:xfrm>
          <a:off x="0" y="0"/>
          <a:ext cx="0" cy="0"/>
          <a:chOff x="0" y="0"/>
          <a:chExt cx="0" cy="0"/>
        </a:xfrm>
      </p:grpSpPr>
      <p:sp>
        <p:nvSpPr>
          <p:cNvPr id="80" name="Google Shape;80;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rtl="0">
              <a:spcBef>
                <a:spcPts val="0"/>
              </a:spcBef>
              <a:spcAft>
                <a:spcPts val="0"/>
              </a:spcAft>
              <a:buSzPts val="3600"/>
              <a:buNone/>
              <a:defRPr sz="36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81" name="Google Shape;81;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86"/>
        <p:cNvGrpSpPr/>
        <p:nvPr/>
      </p:nvGrpSpPr>
      <p:grpSpPr>
        <a:xfrm>
          <a:off x="0" y="0"/>
          <a:ext cx="0" cy="0"/>
          <a:chOff x="0" y="0"/>
          <a:chExt cx="0" cy="0"/>
        </a:xfrm>
      </p:grpSpPr>
      <p:sp>
        <p:nvSpPr>
          <p:cNvPr id="87" name="Google Shape;87;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88" name="Google Shape;88;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rtl="0">
              <a:spcBef>
                <a:spcPts val="0"/>
              </a:spcBef>
              <a:spcAft>
                <a:spcPts val="0"/>
              </a:spcAft>
              <a:buSzPts val="1400"/>
              <a:buChar char="●"/>
              <a:defRPr sz="1400"/>
            </a:lvl1pPr>
            <a:lvl2pPr marL="914400" lvl="1" indent="-304800" rtl="0">
              <a:spcBef>
                <a:spcPts val="0"/>
              </a:spcBef>
              <a:spcAft>
                <a:spcPts val="0"/>
              </a:spcAft>
              <a:buSzPts val="1200"/>
              <a:buChar char="○"/>
              <a:defRPr sz="1200"/>
            </a:lvl2pPr>
            <a:lvl3pPr marL="1371600" lvl="2" indent="-304800" rtl="0">
              <a:spcBef>
                <a:spcPts val="0"/>
              </a:spcBef>
              <a:spcAft>
                <a:spcPts val="0"/>
              </a:spcAft>
              <a:buSzPts val="1200"/>
              <a:buChar char="■"/>
              <a:defRPr sz="1200"/>
            </a:lvl3pPr>
            <a:lvl4pPr marL="1828800" lvl="3" indent="-304800" rtl="0">
              <a:spcBef>
                <a:spcPts val="0"/>
              </a:spcBef>
              <a:spcAft>
                <a:spcPts val="0"/>
              </a:spcAft>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a:endParaRPr/>
          </a:p>
        </p:txBody>
      </p:sp>
      <p:sp>
        <p:nvSpPr>
          <p:cNvPr id="89" name="Google Shape;89;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rtl="0">
              <a:spcBef>
                <a:spcPts val="0"/>
              </a:spcBef>
              <a:spcAft>
                <a:spcPts val="0"/>
              </a:spcAft>
              <a:buSzPts val="1400"/>
              <a:buChar char="●"/>
              <a:defRPr sz="1400"/>
            </a:lvl1pPr>
            <a:lvl2pPr marL="914400" lvl="1" indent="-304800" rtl="0">
              <a:spcBef>
                <a:spcPts val="0"/>
              </a:spcBef>
              <a:spcAft>
                <a:spcPts val="0"/>
              </a:spcAft>
              <a:buSzPts val="1200"/>
              <a:buChar char="○"/>
              <a:defRPr sz="1200"/>
            </a:lvl2pPr>
            <a:lvl3pPr marL="1371600" lvl="2" indent="-304800" rtl="0">
              <a:spcBef>
                <a:spcPts val="0"/>
              </a:spcBef>
              <a:spcAft>
                <a:spcPts val="0"/>
              </a:spcAft>
              <a:buSzPts val="1200"/>
              <a:buChar char="■"/>
              <a:defRPr sz="1200"/>
            </a:lvl3pPr>
            <a:lvl4pPr marL="1828800" lvl="3" indent="-304800" rtl="0">
              <a:spcBef>
                <a:spcPts val="0"/>
              </a:spcBef>
              <a:spcAft>
                <a:spcPts val="0"/>
              </a:spcAft>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a:endParaRPr/>
          </a:p>
        </p:txBody>
      </p:sp>
      <p:sp>
        <p:nvSpPr>
          <p:cNvPr id="90" name="Google Shape;90;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91"/>
        <p:cNvGrpSpPr/>
        <p:nvPr/>
      </p:nvGrpSpPr>
      <p:grpSpPr>
        <a:xfrm>
          <a:off x="0" y="0"/>
          <a:ext cx="0" cy="0"/>
          <a:chOff x="0" y="0"/>
          <a:chExt cx="0" cy="0"/>
        </a:xfrm>
      </p:grpSpPr>
      <p:sp>
        <p:nvSpPr>
          <p:cNvPr id="92" name="Google Shape;92;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93" name="Google Shape;93;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94"/>
        <p:cNvGrpSpPr/>
        <p:nvPr/>
      </p:nvGrpSpPr>
      <p:grpSpPr>
        <a:xfrm>
          <a:off x="0" y="0"/>
          <a:ext cx="0" cy="0"/>
          <a:chOff x="0" y="0"/>
          <a:chExt cx="0" cy="0"/>
        </a:xfrm>
      </p:grpSpPr>
      <p:sp>
        <p:nvSpPr>
          <p:cNvPr id="95" name="Google Shape;95;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96" name="Google Shape;96;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rtl="0">
              <a:spcBef>
                <a:spcPts val="0"/>
              </a:spcBef>
              <a:spcAft>
                <a:spcPts val="0"/>
              </a:spcAft>
              <a:buSzPts val="1200"/>
              <a:buChar char="●"/>
              <a:defRPr sz="1200"/>
            </a:lvl1pPr>
            <a:lvl2pPr marL="914400" lvl="1" indent="-304800" rtl="0">
              <a:spcBef>
                <a:spcPts val="0"/>
              </a:spcBef>
              <a:spcAft>
                <a:spcPts val="0"/>
              </a:spcAft>
              <a:buSzPts val="1200"/>
              <a:buChar char="○"/>
              <a:defRPr sz="1200"/>
            </a:lvl2pPr>
            <a:lvl3pPr marL="1371600" lvl="2" indent="-304800" rtl="0">
              <a:spcBef>
                <a:spcPts val="0"/>
              </a:spcBef>
              <a:spcAft>
                <a:spcPts val="0"/>
              </a:spcAft>
              <a:buSzPts val="1200"/>
              <a:buChar char="■"/>
              <a:defRPr sz="1200"/>
            </a:lvl3pPr>
            <a:lvl4pPr marL="1828800" lvl="3" indent="-304800" rtl="0">
              <a:spcBef>
                <a:spcPts val="0"/>
              </a:spcBef>
              <a:spcAft>
                <a:spcPts val="0"/>
              </a:spcAft>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a:endParaRPr/>
          </a:p>
        </p:txBody>
      </p:sp>
      <p:sp>
        <p:nvSpPr>
          <p:cNvPr id="97" name="Google Shape;97;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98"/>
        <p:cNvGrpSpPr/>
        <p:nvPr/>
      </p:nvGrpSpPr>
      <p:grpSpPr>
        <a:xfrm>
          <a:off x="0" y="0"/>
          <a:ext cx="0" cy="0"/>
          <a:chOff x="0" y="0"/>
          <a:chExt cx="0" cy="0"/>
        </a:xfrm>
      </p:grpSpPr>
      <p:sp>
        <p:nvSpPr>
          <p:cNvPr id="99" name="Google Shape;99;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a:endParaRPr/>
          </a:p>
        </p:txBody>
      </p:sp>
      <p:sp>
        <p:nvSpPr>
          <p:cNvPr id="100" name="Google Shape;100;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01"/>
        <p:cNvGrpSpPr/>
        <p:nvPr/>
      </p:nvGrpSpPr>
      <p:grpSpPr>
        <a:xfrm>
          <a:off x="0" y="0"/>
          <a:ext cx="0" cy="0"/>
          <a:chOff x="0" y="0"/>
          <a:chExt cx="0" cy="0"/>
        </a:xfrm>
      </p:grpSpPr>
      <p:sp>
        <p:nvSpPr>
          <p:cNvPr id="102" name="Google Shape;102;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03;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rtl="0">
              <a:spcBef>
                <a:spcPts val="0"/>
              </a:spcBef>
              <a:spcAft>
                <a:spcPts val="0"/>
              </a:spcAft>
              <a:buSzPts val="4200"/>
              <a:buNone/>
              <a:defRPr sz="4200"/>
            </a:lvl1pPr>
            <a:lvl2pPr lvl="1" algn="ctr" rtl="0">
              <a:spcBef>
                <a:spcPts val="0"/>
              </a:spcBef>
              <a:spcAft>
                <a:spcPts val="0"/>
              </a:spcAft>
              <a:buSzPts val="4200"/>
              <a:buNone/>
              <a:defRPr sz="4200"/>
            </a:lvl2pPr>
            <a:lvl3pPr lvl="2" algn="ctr" rtl="0">
              <a:spcBef>
                <a:spcPts val="0"/>
              </a:spcBef>
              <a:spcAft>
                <a:spcPts val="0"/>
              </a:spcAft>
              <a:buSzPts val="4200"/>
              <a:buNone/>
              <a:defRPr sz="4200"/>
            </a:lvl3pPr>
            <a:lvl4pPr lvl="3" algn="ctr" rtl="0">
              <a:spcBef>
                <a:spcPts val="0"/>
              </a:spcBef>
              <a:spcAft>
                <a:spcPts val="0"/>
              </a:spcAft>
              <a:buSzPts val="4200"/>
              <a:buNone/>
              <a:defRPr sz="4200"/>
            </a:lvl4pPr>
            <a:lvl5pPr lvl="4" algn="ctr" rtl="0">
              <a:spcBef>
                <a:spcPts val="0"/>
              </a:spcBef>
              <a:spcAft>
                <a:spcPts val="0"/>
              </a:spcAft>
              <a:buSzPts val="4200"/>
              <a:buNone/>
              <a:defRPr sz="4200"/>
            </a:lvl5pPr>
            <a:lvl6pPr lvl="5" algn="ctr" rtl="0">
              <a:spcBef>
                <a:spcPts val="0"/>
              </a:spcBef>
              <a:spcAft>
                <a:spcPts val="0"/>
              </a:spcAft>
              <a:buSzPts val="4200"/>
              <a:buNone/>
              <a:defRPr sz="4200"/>
            </a:lvl6pPr>
            <a:lvl7pPr lvl="6" algn="ctr" rtl="0">
              <a:spcBef>
                <a:spcPts val="0"/>
              </a:spcBef>
              <a:spcAft>
                <a:spcPts val="0"/>
              </a:spcAft>
              <a:buSzPts val="4200"/>
              <a:buNone/>
              <a:defRPr sz="4200"/>
            </a:lvl7pPr>
            <a:lvl8pPr lvl="7" algn="ctr" rtl="0">
              <a:spcBef>
                <a:spcPts val="0"/>
              </a:spcBef>
              <a:spcAft>
                <a:spcPts val="0"/>
              </a:spcAft>
              <a:buSzPts val="4200"/>
              <a:buNone/>
              <a:defRPr sz="4200"/>
            </a:lvl8pPr>
            <a:lvl9pPr lvl="8" algn="ctr" rtl="0">
              <a:spcBef>
                <a:spcPts val="0"/>
              </a:spcBef>
              <a:spcAft>
                <a:spcPts val="0"/>
              </a:spcAft>
              <a:buSzPts val="4200"/>
              <a:buNone/>
              <a:defRPr sz="4200"/>
            </a:lvl9pPr>
          </a:lstStyle>
          <a:p>
            <a:endParaRPr/>
          </a:p>
        </p:txBody>
      </p:sp>
      <p:sp>
        <p:nvSpPr>
          <p:cNvPr id="104" name="Google Shape;104;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rtl="0">
              <a:lnSpc>
                <a:spcPct val="100000"/>
              </a:lnSpc>
              <a:spcBef>
                <a:spcPts val="0"/>
              </a:spcBef>
              <a:spcAft>
                <a:spcPts val="0"/>
              </a:spcAft>
              <a:buSzPts val="2100"/>
              <a:buNone/>
              <a:defRPr sz="2100"/>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105" name="Google Shape;105;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rtl="0">
              <a:spcBef>
                <a:spcPts val="0"/>
              </a:spcBef>
              <a:spcAft>
                <a:spcPts val="0"/>
              </a:spcAft>
              <a:buSzPts val="1800"/>
              <a:buChar char="●"/>
              <a:defRPr/>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sp>
        <p:nvSpPr>
          <p:cNvPr id="106" name="Google Shape;106;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07"/>
        <p:cNvGrpSpPr/>
        <p:nvPr/>
      </p:nvGrpSpPr>
      <p:grpSpPr>
        <a:xfrm>
          <a:off x="0" y="0"/>
          <a:ext cx="0" cy="0"/>
          <a:chOff x="0" y="0"/>
          <a:chExt cx="0" cy="0"/>
        </a:xfrm>
      </p:grpSpPr>
      <p:sp>
        <p:nvSpPr>
          <p:cNvPr id="108" name="Google Shape;108;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rtl="0">
              <a:lnSpc>
                <a:spcPct val="100000"/>
              </a:lnSpc>
              <a:spcBef>
                <a:spcPts val="0"/>
              </a:spcBef>
              <a:spcAft>
                <a:spcPts val="0"/>
              </a:spcAft>
              <a:buSzPts val="1800"/>
              <a:buNone/>
              <a:defRPr/>
            </a:lvl1pPr>
          </a:lstStyle>
          <a:p>
            <a:endParaRPr/>
          </a:p>
        </p:txBody>
      </p:sp>
      <p:sp>
        <p:nvSpPr>
          <p:cNvPr id="109" name="Google Shape;109;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110"/>
        <p:cNvGrpSpPr/>
        <p:nvPr/>
      </p:nvGrpSpPr>
      <p:grpSpPr>
        <a:xfrm>
          <a:off x="0" y="0"/>
          <a:ext cx="0" cy="0"/>
          <a:chOff x="0" y="0"/>
          <a:chExt cx="0" cy="0"/>
        </a:xfrm>
      </p:grpSpPr>
      <p:sp>
        <p:nvSpPr>
          <p:cNvPr id="111" name="Google Shape;111;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rtl="0">
              <a:spcBef>
                <a:spcPts val="0"/>
              </a:spcBef>
              <a:spcAft>
                <a:spcPts val="0"/>
              </a:spcAft>
              <a:buSzPts val="12000"/>
              <a:buNone/>
              <a:defRPr sz="12000"/>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112" name="Google Shape;112;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rtl="0">
              <a:spcBef>
                <a:spcPts val="0"/>
              </a:spcBef>
              <a:spcAft>
                <a:spcPts val="0"/>
              </a:spcAft>
              <a:buSzPts val="1800"/>
              <a:buChar char="●"/>
              <a:defRPr/>
            </a:lvl1pPr>
            <a:lvl2pPr marL="914400" lvl="1" indent="-317500" algn="ctr" rtl="0">
              <a:spcBef>
                <a:spcPts val="0"/>
              </a:spcBef>
              <a:spcAft>
                <a:spcPts val="0"/>
              </a:spcAft>
              <a:buSzPts val="1400"/>
              <a:buChar char="○"/>
              <a:defRPr/>
            </a:lvl2pPr>
            <a:lvl3pPr marL="1371600" lvl="2" indent="-317500" algn="ctr" rtl="0">
              <a:spcBef>
                <a:spcPts val="0"/>
              </a:spcBef>
              <a:spcAft>
                <a:spcPts val="0"/>
              </a:spcAft>
              <a:buSzPts val="1400"/>
              <a:buChar char="■"/>
              <a:defRPr/>
            </a:lvl3pPr>
            <a:lvl4pPr marL="1828800" lvl="3" indent="-317500" algn="ctr" rtl="0">
              <a:spcBef>
                <a:spcPts val="0"/>
              </a:spcBef>
              <a:spcAft>
                <a:spcPts val="0"/>
              </a:spcAft>
              <a:buSzPts val="1400"/>
              <a:buChar char="●"/>
              <a:defRPr/>
            </a:lvl4pPr>
            <a:lvl5pPr marL="2286000" lvl="4" indent="-317500" algn="ctr" rtl="0">
              <a:spcBef>
                <a:spcPts val="0"/>
              </a:spcBef>
              <a:spcAft>
                <a:spcPts val="0"/>
              </a:spcAft>
              <a:buSzPts val="1400"/>
              <a:buChar char="○"/>
              <a:defRPr/>
            </a:lvl5pPr>
            <a:lvl6pPr marL="2743200" lvl="5" indent="-317500" algn="ctr" rtl="0">
              <a:spcBef>
                <a:spcPts val="0"/>
              </a:spcBef>
              <a:spcAft>
                <a:spcPts val="0"/>
              </a:spcAft>
              <a:buSzPts val="1400"/>
              <a:buChar char="■"/>
              <a:defRPr/>
            </a:lvl6pPr>
            <a:lvl7pPr marL="3200400" lvl="6" indent="-317500" algn="ctr" rtl="0">
              <a:spcBef>
                <a:spcPts val="0"/>
              </a:spcBef>
              <a:spcAft>
                <a:spcPts val="0"/>
              </a:spcAft>
              <a:buSzPts val="1400"/>
              <a:buChar char="●"/>
              <a:defRPr/>
            </a:lvl7pPr>
            <a:lvl8pPr marL="3657600" lvl="7" indent="-317500" algn="ctr" rtl="0">
              <a:spcBef>
                <a:spcPts val="0"/>
              </a:spcBef>
              <a:spcAft>
                <a:spcPts val="0"/>
              </a:spcAft>
              <a:buSzPts val="1400"/>
              <a:buChar char="○"/>
              <a:defRPr/>
            </a:lvl8pPr>
            <a:lvl9pPr marL="4114800" lvl="8" indent="-317500" algn="ctr" rtl="0">
              <a:spcBef>
                <a:spcPts val="0"/>
              </a:spcBef>
              <a:spcAft>
                <a:spcPts val="0"/>
              </a:spcAft>
              <a:buSzPts val="1400"/>
              <a:buChar char="■"/>
              <a:defRPr/>
            </a:lvl9pPr>
          </a:lstStyle>
          <a:p>
            <a:endParaRPr/>
          </a:p>
        </p:txBody>
      </p:sp>
      <p:sp>
        <p:nvSpPr>
          <p:cNvPr id="113" name="Google Shape;113;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4"/>
        <p:cNvGrpSpPr/>
        <p:nvPr/>
      </p:nvGrpSpPr>
      <p:grpSpPr>
        <a:xfrm>
          <a:off x="0" y="0"/>
          <a:ext cx="0" cy="0"/>
          <a:chOff x="0" y="0"/>
          <a:chExt cx="0" cy="0"/>
        </a:xfrm>
      </p:grpSpPr>
      <p:sp>
        <p:nvSpPr>
          <p:cNvPr id="115" name="Google Shape;115;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173401-41FD-DE12-CD55-E3907D09E75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B17F99B-7827-A7A5-CADF-A292B7E1D73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2EE04C6-5124-0B15-FD92-D13C5AFED2F5}"/>
              </a:ext>
            </a:extLst>
          </p:cNvPr>
          <p:cNvSpPr>
            <a:spLocks noGrp="1"/>
          </p:cNvSpPr>
          <p:nvPr>
            <p:ph type="dt" sz="half" idx="10"/>
          </p:nvPr>
        </p:nvSpPr>
        <p:spPr/>
        <p:txBody>
          <a:bodyPr/>
          <a:lstStyle/>
          <a:p>
            <a:fld id="{E01A8F15-21F3-4BB5-9E7E-ED588335EBEF}" type="datetimeFigureOut">
              <a:rPr lang="en-IN" smtClean="0"/>
              <a:t>08-08-2026</a:t>
            </a:fld>
            <a:endParaRPr lang="en-IN"/>
          </a:p>
        </p:txBody>
      </p:sp>
      <p:sp>
        <p:nvSpPr>
          <p:cNvPr id="5" name="Footer Placeholder 4">
            <a:extLst>
              <a:ext uri="{FF2B5EF4-FFF2-40B4-BE49-F238E27FC236}">
                <a16:creationId xmlns:a16="http://schemas.microsoft.com/office/drawing/2014/main" id="{24AB20B8-0F21-FE45-D14B-A2CC0A14588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1B7D4CA-07FA-38A3-ABBA-CA2836A8E895}"/>
              </a:ext>
            </a:extLst>
          </p:cNvPr>
          <p:cNvSpPr>
            <a:spLocks noGrp="1"/>
          </p:cNvSpPr>
          <p:nvPr>
            <p:ph type="sldNum" sz="quarter" idx="12"/>
          </p:nvPr>
        </p:nvSpPr>
        <p:spPr/>
        <p:txBody>
          <a:bodyPr/>
          <a:lstStyle/>
          <a:p>
            <a:fld id="{9A1292A6-4B29-435E-9103-94C9809C242A}" type="slidenum">
              <a:rPr lang="en-IN" smtClean="0"/>
              <a:t>‹#›</a:t>
            </a:fld>
            <a:endParaRPr lang="en-IN"/>
          </a:p>
        </p:txBody>
      </p:sp>
    </p:spTree>
    <p:extLst>
      <p:ext uri="{BB962C8B-B14F-4D97-AF65-F5344CB8AC3E}">
        <p14:creationId xmlns:p14="http://schemas.microsoft.com/office/powerpoint/2010/main" val="31387814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71"/>
        <p:cNvGrpSpPr/>
        <p:nvPr/>
      </p:nvGrpSpPr>
      <p:grpSpPr>
        <a:xfrm>
          <a:off x="0" y="0"/>
          <a:ext cx="0" cy="0"/>
          <a:chOff x="0" y="0"/>
          <a:chExt cx="0" cy="0"/>
        </a:xfrm>
      </p:grpSpPr>
      <p:sp>
        <p:nvSpPr>
          <p:cNvPr id="72" name="Google Shape;72;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rtl="0">
              <a:spcBef>
                <a:spcPts val="0"/>
              </a:spcBef>
              <a:spcAft>
                <a:spcPts val="0"/>
              </a:spcAft>
              <a:buClr>
                <a:schemeClr val="dk1"/>
              </a:buClr>
              <a:buSzPts val="2800"/>
              <a:buNone/>
              <a:defRPr sz="2800">
                <a:solidFill>
                  <a:schemeClr val="dk1"/>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a:endParaRPr/>
          </a:p>
        </p:txBody>
      </p:sp>
      <p:sp>
        <p:nvSpPr>
          <p:cNvPr id="73" name="Google Shape;73;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rtl="0">
              <a:lnSpc>
                <a:spcPct val="115000"/>
              </a:lnSpc>
              <a:spcBef>
                <a:spcPts val="0"/>
              </a:spcBef>
              <a:spcAft>
                <a:spcPts val="0"/>
              </a:spcAft>
              <a:buClr>
                <a:schemeClr val="dk2"/>
              </a:buClr>
              <a:buSzPts val="1800"/>
              <a:buChar char="●"/>
              <a:defRPr sz="1800">
                <a:solidFill>
                  <a:schemeClr val="dk2"/>
                </a:solidFill>
              </a:defRPr>
            </a:lvl1pPr>
            <a:lvl2pPr marL="914400" lvl="1" indent="-317500" rtl="0">
              <a:lnSpc>
                <a:spcPct val="115000"/>
              </a:lnSpc>
              <a:spcBef>
                <a:spcPts val="0"/>
              </a:spcBef>
              <a:spcAft>
                <a:spcPts val="0"/>
              </a:spcAft>
              <a:buClr>
                <a:schemeClr val="dk2"/>
              </a:buClr>
              <a:buSzPts val="1400"/>
              <a:buChar char="○"/>
              <a:defRPr>
                <a:solidFill>
                  <a:schemeClr val="dk2"/>
                </a:solidFill>
              </a:defRPr>
            </a:lvl2pPr>
            <a:lvl3pPr marL="1371600" lvl="2" indent="-317500" rtl="0">
              <a:lnSpc>
                <a:spcPct val="115000"/>
              </a:lnSpc>
              <a:spcBef>
                <a:spcPts val="0"/>
              </a:spcBef>
              <a:spcAft>
                <a:spcPts val="0"/>
              </a:spcAft>
              <a:buClr>
                <a:schemeClr val="dk2"/>
              </a:buClr>
              <a:buSzPts val="1400"/>
              <a:buChar char="■"/>
              <a:defRPr>
                <a:solidFill>
                  <a:schemeClr val="dk2"/>
                </a:solidFill>
              </a:defRPr>
            </a:lvl3pPr>
            <a:lvl4pPr marL="1828800" lvl="3" indent="-317500" rtl="0">
              <a:lnSpc>
                <a:spcPct val="115000"/>
              </a:lnSpc>
              <a:spcBef>
                <a:spcPts val="0"/>
              </a:spcBef>
              <a:spcAft>
                <a:spcPts val="0"/>
              </a:spcAft>
              <a:buClr>
                <a:schemeClr val="dk2"/>
              </a:buClr>
              <a:buSzPts val="1400"/>
              <a:buChar char="●"/>
              <a:defRPr>
                <a:solidFill>
                  <a:schemeClr val="dk2"/>
                </a:solidFill>
              </a:defRPr>
            </a:lvl4pPr>
            <a:lvl5pPr marL="2286000" lvl="4" indent="-317500" rtl="0">
              <a:lnSpc>
                <a:spcPct val="115000"/>
              </a:lnSpc>
              <a:spcBef>
                <a:spcPts val="0"/>
              </a:spcBef>
              <a:spcAft>
                <a:spcPts val="0"/>
              </a:spcAft>
              <a:buClr>
                <a:schemeClr val="dk2"/>
              </a:buClr>
              <a:buSzPts val="1400"/>
              <a:buChar char="○"/>
              <a:defRPr>
                <a:solidFill>
                  <a:schemeClr val="dk2"/>
                </a:solidFill>
              </a:defRPr>
            </a:lvl5pPr>
            <a:lvl6pPr marL="2743200" lvl="5" indent="-317500" rtl="0">
              <a:lnSpc>
                <a:spcPct val="115000"/>
              </a:lnSpc>
              <a:spcBef>
                <a:spcPts val="0"/>
              </a:spcBef>
              <a:spcAft>
                <a:spcPts val="0"/>
              </a:spcAft>
              <a:buClr>
                <a:schemeClr val="dk2"/>
              </a:buClr>
              <a:buSzPts val="1400"/>
              <a:buChar char="■"/>
              <a:defRPr>
                <a:solidFill>
                  <a:schemeClr val="dk2"/>
                </a:solidFill>
              </a:defRPr>
            </a:lvl6pPr>
            <a:lvl7pPr marL="3200400" lvl="6" indent="-317500" rtl="0">
              <a:lnSpc>
                <a:spcPct val="115000"/>
              </a:lnSpc>
              <a:spcBef>
                <a:spcPts val="0"/>
              </a:spcBef>
              <a:spcAft>
                <a:spcPts val="0"/>
              </a:spcAft>
              <a:buClr>
                <a:schemeClr val="dk2"/>
              </a:buClr>
              <a:buSzPts val="1400"/>
              <a:buChar char="●"/>
              <a:defRPr>
                <a:solidFill>
                  <a:schemeClr val="dk2"/>
                </a:solidFill>
              </a:defRPr>
            </a:lvl7pPr>
            <a:lvl8pPr marL="3657600" lvl="7" indent="-317500" rtl="0">
              <a:lnSpc>
                <a:spcPct val="115000"/>
              </a:lnSpc>
              <a:spcBef>
                <a:spcPts val="0"/>
              </a:spcBef>
              <a:spcAft>
                <a:spcPts val="0"/>
              </a:spcAft>
              <a:buClr>
                <a:schemeClr val="dk2"/>
              </a:buClr>
              <a:buSzPts val="1400"/>
              <a:buChar char="○"/>
              <a:defRPr>
                <a:solidFill>
                  <a:schemeClr val="dk2"/>
                </a:solidFill>
              </a:defRPr>
            </a:lvl8pPr>
            <a:lvl9pPr marL="4114800" lvl="8" indent="-317500" rtl="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74" name="Google Shape;74;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rtl="0">
              <a:buNone/>
              <a:defRPr sz="1000">
                <a:solidFill>
                  <a:schemeClr val="dk2"/>
                </a:solidFill>
              </a:defRPr>
            </a:lvl1pPr>
            <a:lvl2pPr lvl="1" algn="r" rtl="0">
              <a:buNone/>
              <a:defRPr sz="1000">
                <a:solidFill>
                  <a:schemeClr val="dk2"/>
                </a:solidFill>
              </a:defRPr>
            </a:lvl2pPr>
            <a:lvl3pPr lvl="2" algn="r" rtl="0">
              <a:buNone/>
              <a:defRPr sz="1000">
                <a:solidFill>
                  <a:schemeClr val="dk2"/>
                </a:solidFill>
              </a:defRPr>
            </a:lvl3pPr>
            <a:lvl4pPr lvl="3" algn="r" rtl="0">
              <a:buNone/>
              <a:defRPr sz="1000">
                <a:solidFill>
                  <a:schemeClr val="dk2"/>
                </a:solidFill>
              </a:defRPr>
            </a:lvl4pPr>
            <a:lvl5pPr lvl="4" algn="r" rtl="0">
              <a:buNone/>
              <a:defRPr sz="1000">
                <a:solidFill>
                  <a:schemeClr val="dk2"/>
                </a:solidFill>
              </a:defRPr>
            </a:lvl5pPr>
            <a:lvl6pPr lvl="5" algn="r" rtl="0">
              <a:buNone/>
              <a:defRPr sz="1000">
                <a:solidFill>
                  <a:schemeClr val="dk2"/>
                </a:solidFill>
              </a:defRPr>
            </a:lvl6pPr>
            <a:lvl7pPr lvl="6" algn="r" rtl="0">
              <a:buNone/>
              <a:defRPr sz="1000">
                <a:solidFill>
                  <a:schemeClr val="dk2"/>
                </a:solidFill>
              </a:defRPr>
            </a:lvl7pPr>
            <a:lvl8pPr lvl="7" algn="r" rtl="0">
              <a:buNone/>
              <a:defRPr sz="1000">
                <a:solidFill>
                  <a:schemeClr val="dk2"/>
                </a:solidFill>
              </a:defRPr>
            </a:lvl8pPr>
            <a:lvl9pPr lvl="8" algn="r" rtl="0">
              <a:buNone/>
              <a:defRPr sz="1000">
                <a:solidFill>
                  <a:schemeClr val="dk2"/>
                </a:solidFill>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60"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p14"/>
          <p:cNvSpPr txBox="1">
            <a:spLocks noGrp="1"/>
          </p:cNvSpPr>
          <p:nvPr>
            <p:ph type="ctrTitle"/>
          </p:nvPr>
        </p:nvSpPr>
        <p:spPr>
          <a:xfrm>
            <a:off x="448235" y="2177935"/>
            <a:ext cx="8195294" cy="863926"/>
          </a:xfrm>
          <a:prstGeom prst="rect">
            <a:avLst/>
          </a:prstGeom>
          <a:solidFill>
            <a:srgbClr val="FCE5DC"/>
          </a:solidFill>
          <a:ln>
            <a:noFill/>
          </a:ln>
        </p:spPr>
        <p:txBody>
          <a:bodyPr spcFirstLastPara="1" wrap="square" lIns="91425" tIns="45700" rIns="91425" bIns="45700" anchor="ctr" anchorCtr="0">
            <a:normAutofit fontScale="90000"/>
          </a:bodyPr>
          <a:lstStyle/>
          <a:p>
            <a:pPr lvl="0">
              <a:buSzPts val="2800"/>
            </a:pPr>
            <a:r>
              <a:rPr lang="en-US" sz="2800" dirty="0">
                <a:latin typeface="Times New Roman"/>
                <a:ea typeface="Times New Roman"/>
                <a:cs typeface="Times New Roman"/>
                <a:sym typeface="Times New Roman"/>
              </a:rPr>
              <a:t>Project Title : Smart AI Platform for Multilingual Legal </a:t>
            </a:r>
            <a:br>
              <a:rPr lang="en-US" sz="2800" dirty="0">
                <a:latin typeface="Times New Roman"/>
                <a:ea typeface="Times New Roman"/>
                <a:cs typeface="Times New Roman"/>
                <a:sym typeface="Times New Roman"/>
              </a:rPr>
            </a:br>
            <a:r>
              <a:rPr lang="en-US" sz="2800" dirty="0">
                <a:latin typeface="Times New Roman"/>
                <a:ea typeface="Times New Roman"/>
                <a:cs typeface="Times New Roman"/>
                <a:sym typeface="Times New Roman"/>
              </a:rPr>
              <a:t>Document Classification , Summarization and Retrieval </a:t>
            </a:r>
            <a:endParaRPr dirty="0"/>
          </a:p>
        </p:txBody>
      </p:sp>
      <p:pic>
        <p:nvPicPr>
          <p:cNvPr id="127" name="Google Shape;127;p14" descr="Image result for logo of anjuman college of engineering"/>
          <p:cNvPicPr preferRelativeResize="0"/>
          <p:nvPr/>
        </p:nvPicPr>
        <p:blipFill rotWithShape="1">
          <a:blip r:embed="rId3">
            <a:alphaModFix/>
          </a:blip>
          <a:srcRect/>
          <a:stretch/>
        </p:blipFill>
        <p:spPr>
          <a:xfrm>
            <a:off x="381000" y="191009"/>
            <a:ext cx="960808" cy="832327"/>
          </a:xfrm>
          <a:prstGeom prst="rect">
            <a:avLst/>
          </a:prstGeom>
          <a:noFill/>
          <a:ln>
            <a:noFill/>
          </a:ln>
        </p:spPr>
      </p:pic>
      <p:sp>
        <p:nvSpPr>
          <p:cNvPr id="128" name="Google Shape;128;p14"/>
          <p:cNvSpPr/>
          <p:nvPr/>
        </p:nvSpPr>
        <p:spPr>
          <a:xfrm>
            <a:off x="1024403" y="171450"/>
            <a:ext cx="6854562" cy="96960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1600" b="1" i="0" u="none" strike="noStrike" cap="none" dirty="0">
                <a:solidFill>
                  <a:srgbClr val="C00000"/>
                </a:solidFill>
                <a:latin typeface="Arial Rounded"/>
                <a:ea typeface="Arial Rounded"/>
                <a:cs typeface="Arial Rounded"/>
                <a:sym typeface="Arial Rounded"/>
              </a:rPr>
              <a:t>(Managed by Anjuman Hami-E-Islam, Nagpur)</a:t>
            </a:r>
            <a:endParaRPr sz="1600" b="1" i="0" u="none" strike="noStrike" cap="none" dirty="0">
              <a:solidFill>
                <a:srgbClr val="C00000"/>
              </a:solidFill>
              <a:latin typeface="Arial Rounded"/>
              <a:ea typeface="Arial Rounded"/>
              <a:cs typeface="Arial Rounded"/>
              <a:sym typeface="Arial Rounded"/>
            </a:endParaRPr>
          </a:p>
          <a:p>
            <a:pPr marL="0" marR="0" lvl="0" indent="0" algn="ctr" rtl="0">
              <a:spcBef>
                <a:spcPts val="0"/>
              </a:spcBef>
              <a:spcAft>
                <a:spcPts val="0"/>
              </a:spcAft>
              <a:buNone/>
            </a:pPr>
            <a:r>
              <a:rPr lang="en-US" sz="1600" b="1" i="0" u="none" strike="noStrike" cap="none" dirty="0">
                <a:solidFill>
                  <a:srgbClr val="C00000"/>
                </a:solidFill>
                <a:latin typeface="Arial Rounded"/>
                <a:ea typeface="Arial Rounded"/>
                <a:cs typeface="Arial Rounded"/>
                <a:sym typeface="Arial Rounded"/>
              </a:rPr>
              <a:t>ANJUMAN COLLEGE OF ENGINEERING  AND TECHNOLOGY </a:t>
            </a:r>
            <a:endParaRPr sz="1600" dirty="0"/>
          </a:p>
          <a:p>
            <a:pPr marL="0" marR="0" lvl="0" indent="0" algn="ctr" rtl="0">
              <a:spcBef>
                <a:spcPts val="0"/>
              </a:spcBef>
              <a:spcAft>
                <a:spcPts val="0"/>
              </a:spcAft>
              <a:buNone/>
            </a:pPr>
            <a:r>
              <a:rPr lang="en-US" sz="1600" b="1" i="0" u="none" strike="noStrike" cap="none" dirty="0">
                <a:solidFill>
                  <a:srgbClr val="C00000"/>
                </a:solidFill>
                <a:latin typeface="Arial Rounded"/>
                <a:ea typeface="Arial Rounded"/>
                <a:cs typeface="Arial Rounded"/>
                <a:sym typeface="Arial Rounded"/>
              </a:rPr>
              <a:t>SADAR, NAGPUR -440001</a:t>
            </a:r>
            <a:endParaRPr sz="1600" b="1" i="0" u="none" strike="noStrike" cap="none" dirty="0">
              <a:solidFill>
                <a:srgbClr val="C00000"/>
              </a:solidFill>
              <a:latin typeface="Arial Rounded"/>
              <a:ea typeface="Arial Rounded"/>
              <a:cs typeface="Arial Rounded"/>
              <a:sym typeface="Arial Rounded"/>
            </a:endParaRPr>
          </a:p>
        </p:txBody>
      </p:sp>
      <p:sp>
        <p:nvSpPr>
          <p:cNvPr id="129" name="Google Shape;129;p14"/>
          <p:cNvSpPr/>
          <p:nvPr/>
        </p:nvSpPr>
        <p:spPr>
          <a:xfrm>
            <a:off x="609600" y="959404"/>
            <a:ext cx="7716253" cy="1314062"/>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400" b="1" i="0" u="none" strike="noStrike" cap="none" dirty="0">
                <a:solidFill>
                  <a:schemeClr val="dk1"/>
                </a:solidFill>
                <a:latin typeface="Times New Roman"/>
                <a:ea typeface="Times New Roman"/>
                <a:cs typeface="Times New Roman"/>
                <a:sym typeface="Times New Roman"/>
              </a:rPr>
              <a:t>Department of Artificial Intelligence Data Science</a:t>
            </a:r>
            <a:endParaRPr sz="2400" dirty="0"/>
          </a:p>
          <a:p>
            <a:pPr marL="0" marR="0" lvl="0" indent="0" algn="ctr" rtl="0">
              <a:spcBef>
                <a:spcPts val="0"/>
              </a:spcBef>
              <a:spcAft>
                <a:spcPts val="0"/>
              </a:spcAft>
              <a:buNone/>
            </a:pPr>
            <a:r>
              <a:rPr lang="en-US" sz="2000" b="0" i="0" u="none" strike="noStrike" cap="none" dirty="0">
                <a:solidFill>
                  <a:schemeClr val="dk1"/>
                </a:solidFill>
                <a:latin typeface="Times New Roman"/>
                <a:ea typeface="Times New Roman"/>
                <a:cs typeface="Times New Roman"/>
                <a:sym typeface="Times New Roman"/>
              </a:rPr>
              <a:t>Session : 2026-27</a:t>
            </a:r>
            <a:endParaRPr sz="2000" dirty="0"/>
          </a:p>
          <a:p>
            <a:pPr marL="0" marR="0" lvl="0" indent="0" algn="ctr" rtl="0">
              <a:spcBef>
                <a:spcPts val="0"/>
              </a:spcBef>
              <a:spcAft>
                <a:spcPts val="0"/>
              </a:spcAft>
              <a:buNone/>
            </a:pPr>
            <a:r>
              <a:rPr lang="en-US" sz="2000" b="0" i="0" u="none" strike="noStrike" cap="none" dirty="0">
                <a:solidFill>
                  <a:schemeClr val="dk1"/>
                </a:solidFill>
                <a:latin typeface="Times New Roman"/>
                <a:ea typeface="Times New Roman"/>
                <a:cs typeface="Times New Roman"/>
                <a:sym typeface="Times New Roman"/>
              </a:rPr>
              <a:t>7</a:t>
            </a:r>
            <a:r>
              <a:rPr lang="en-US" sz="2000" b="0" i="0" u="none" strike="noStrike" cap="none" baseline="30000" dirty="0">
                <a:solidFill>
                  <a:schemeClr val="dk1"/>
                </a:solidFill>
                <a:latin typeface="Times New Roman"/>
                <a:ea typeface="Times New Roman"/>
                <a:cs typeface="Times New Roman"/>
                <a:sym typeface="Times New Roman"/>
              </a:rPr>
              <a:t>th</a:t>
            </a:r>
            <a:r>
              <a:rPr lang="en-US" sz="2000" b="0" i="0" u="none" strike="noStrike" cap="none" dirty="0">
                <a:solidFill>
                  <a:schemeClr val="dk1"/>
                </a:solidFill>
                <a:latin typeface="Times New Roman"/>
                <a:ea typeface="Times New Roman"/>
                <a:cs typeface="Times New Roman"/>
                <a:sym typeface="Times New Roman"/>
              </a:rPr>
              <a:t> semester </a:t>
            </a:r>
            <a:endParaRPr sz="2000" b="0" i="0" u="none" strike="noStrike" cap="none" dirty="0">
              <a:solidFill>
                <a:schemeClr val="dk1"/>
              </a:solidFill>
              <a:latin typeface="Times New Roman"/>
              <a:ea typeface="Times New Roman"/>
              <a:cs typeface="Times New Roman"/>
              <a:sym typeface="Times New Roman"/>
            </a:endParaRPr>
          </a:p>
        </p:txBody>
      </p:sp>
      <p:sp>
        <p:nvSpPr>
          <p:cNvPr id="130" name="Google Shape;130;p14"/>
          <p:cNvSpPr txBox="1">
            <a:spLocks noGrp="1"/>
          </p:cNvSpPr>
          <p:nvPr>
            <p:ph type="subTitle" idx="1"/>
          </p:nvPr>
        </p:nvSpPr>
        <p:spPr>
          <a:xfrm>
            <a:off x="609600" y="3150879"/>
            <a:ext cx="8534400" cy="1574781"/>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ct val="83333"/>
              <a:buNone/>
            </a:pPr>
            <a:r>
              <a:rPr lang="en-US" sz="1200" dirty="0">
                <a:solidFill>
                  <a:schemeClr val="dk1"/>
                </a:solidFill>
                <a:latin typeface="Times New Roman" panose="02020603050405020304" pitchFamily="18" charset="0"/>
                <a:ea typeface="Arial Rounded"/>
                <a:cs typeface="Times New Roman" panose="02020603050405020304" pitchFamily="18" charset="0"/>
                <a:sym typeface="Arial Rounded"/>
              </a:rPr>
              <a:t>PRESENTED  BY  :  </a:t>
            </a:r>
          </a:p>
          <a:p>
            <a:pPr marL="0" lvl="0" indent="0" algn="l" rtl="0">
              <a:spcBef>
                <a:spcPts val="0"/>
              </a:spcBef>
              <a:spcAft>
                <a:spcPts val="0"/>
              </a:spcAft>
              <a:buClr>
                <a:schemeClr val="dk1"/>
              </a:buClr>
              <a:buSzPct val="83333"/>
              <a:buNone/>
            </a:pPr>
            <a:r>
              <a:rPr lang="en-US" sz="1200" dirty="0">
                <a:solidFill>
                  <a:schemeClr val="dk1"/>
                </a:solidFill>
                <a:latin typeface="Times New Roman" panose="02020603050405020304" pitchFamily="18" charset="0"/>
                <a:ea typeface="Arial Rounded"/>
                <a:cs typeface="Times New Roman" panose="02020603050405020304" pitchFamily="18" charset="0"/>
                <a:sym typeface="Arial Rounded"/>
              </a:rPr>
              <a:t>			                                                                       	</a:t>
            </a:r>
            <a:endParaRPr lang="en-US" sz="1200" dirty="0">
              <a:latin typeface="Times New Roman" panose="02020603050405020304" pitchFamily="18" charset="0"/>
              <a:ea typeface="Arial Rounded"/>
              <a:cs typeface="Times New Roman" panose="02020603050405020304" pitchFamily="18" charset="0"/>
              <a:sym typeface="Arial Rounded"/>
            </a:endParaRPr>
          </a:p>
          <a:p>
            <a:pPr marL="0" lvl="0" indent="0" algn="l" rtl="0">
              <a:spcBef>
                <a:spcPts val="0"/>
              </a:spcBef>
              <a:spcAft>
                <a:spcPts val="0"/>
              </a:spcAft>
              <a:buClr>
                <a:schemeClr val="dk1"/>
              </a:buClr>
              <a:buSzPct val="83333"/>
            </a:pPr>
            <a:r>
              <a:rPr lang="en-US" sz="1200" dirty="0">
                <a:solidFill>
                  <a:schemeClr val="dk1"/>
                </a:solidFill>
                <a:latin typeface="Times New Roman" panose="02020603050405020304" pitchFamily="18" charset="0"/>
                <a:ea typeface="Arial Rounded"/>
                <a:cs typeface="Times New Roman" panose="02020603050405020304" pitchFamily="18" charset="0"/>
                <a:sym typeface="Arial Rounded"/>
              </a:rPr>
              <a:t>7     LAIBA NAAZ AJAZ KHAN                                                                                                        GUIDED BY :</a:t>
            </a:r>
          </a:p>
          <a:p>
            <a:pPr marL="0" lvl="0" indent="0" algn="l" rtl="0">
              <a:spcBef>
                <a:spcPts val="0"/>
              </a:spcBef>
              <a:spcAft>
                <a:spcPts val="0"/>
              </a:spcAft>
              <a:buClr>
                <a:schemeClr val="dk1"/>
              </a:buClr>
              <a:buSzPct val="83333"/>
            </a:pPr>
            <a:r>
              <a:rPr lang="en-US" sz="1200" dirty="0">
                <a:solidFill>
                  <a:schemeClr val="dk1"/>
                </a:solidFill>
                <a:latin typeface="Times New Roman" panose="02020603050405020304" pitchFamily="18" charset="0"/>
                <a:ea typeface="Arial Rounded"/>
                <a:cs typeface="Times New Roman" panose="02020603050405020304" pitchFamily="18" charset="0"/>
                <a:sym typeface="Arial Rounded"/>
              </a:rPr>
              <a:t>10   MUNIRA FIRDOS                                                                                                                     DR. SYED IRFAN ALI</a:t>
            </a:r>
          </a:p>
          <a:p>
            <a:pPr marL="0" lvl="0" indent="0" algn="l" rtl="0">
              <a:spcBef>
                <a:spcPts val="0"/>
              </a:spcBef>
              <a:spcAft>
                <a:spcPts val="0"/>
              </a:spcAft>
              <a:buClr>
                <a:schemeClr val="dk1"/>
              </a:buClr>
              <a:buSzPct val="83333"/>
            </a:pPr>
            <a:r>
              <a:rPr lang="en-US" sz="1200" dirty="0">
                <a:solidFill>
                  <a:schemeClr val="dk1"/>
                </a:solidFill>
                <a:latin typeface="Times New Roman" panose="02020603050405020304" pitchFamily="18" charset="0"/>
                <a:ea typeface="Arial Rounded"/>
                <a:cs typeface="Times New Roman" panose="02020603050405020304" pitchFamily="18" charset="0"/>
                <a:sym typeface="Arial Rounded"/>
              </a:rPr>
              <a:t>17   ADIBA ISHAQUE SHEIKH </a:t>
            </a:r>
          </a:p>
          <a:p>
            <a:pPr marL="0" lvl="0" indent="0" algn="l">
              <a:buClr>
                <a:schemeClr val="dk1"/>
              </a:buClr>
              <a:buSzPct val="83333"/>
            </a:pPr>
            <a:r>
              <a:rPr lang="en-US" sz="1200" dirty="0">
                <a:solidFill>
                  <a:schemeClr val="dk1"/>
                </a:solidFill>
                <a:latin typeface="Times New Roman" panose="02020603050405020304" pitchFamily="18" charset="0"/>
                <a:ea typeface="Arial Rounded"/>
                <a:cs typeface="Times New Roman" panose="02020603050405020304" pitchFamily="18" charset="0"/>
                <a:sym typeface="Arial Rounded"/>
              </a:rPr>
              <a:t>28   ALKAIF INAYATULLA PATHAN                                                                                           Co - GUIDED BY :</a:t>
            </a:r>
          </a:p>
          <a:p>
            <a:pPr marL="0" lvl="0" indent="0" algn="l">
              <a:buClr>
                <a:schemeClr val="dk1"/>
              </a:buClr>
              <a:buSzPct val="83333"/>
            </a:pPr>
            <a:r>
              <a:rPr lang="en-US" sz="1200" dirty="0">
                <a:solidFill>
                  <a:schemeClr val="dk1"/>
                </a:solidFill>
                <a:latin typeface="Times New Roman" panose="02020603050405020304" pitchFamily="18" charset="0"/>
                <a:ea typeface="Arial Rounded"/>
                <a:cs typeface="Times New Roman" panose="02020603050405020304" pitchFamily="18" charset="0"/>
                <a:sym typeface="Arial Rounded"/>
              </a:rPr>
              <a:t>35   KHAN ARSALAN MUKIM                                                                                                       PROF. NEHA BHAGAT </a:t>
            </a:r>
          </a:p>
          <a:p>
            <a:pPr marL="0" lvl="0" indent="0" algn="l">
              <a:buClr>
                <a:schemeClr val="dk1"/>
              </a:buClr>
              <a:buSzPct val="83333"/>
            </a:pPr>
            <a:r>
              <a:rPr lang="en-US" sz="1200" dirty="0">
                <a:solidFill>
                  <a:schemeClr val="dk1"/>
                </a:solidFill>
                <a:latin typeface="Times New Roman" panose="02020603050405020304" pitchFamily="18" charset="0"/>
                <a:ea typeface="Arial Rounded"/>
                <a:cs typeface="Times New Roman" panose="02020603050405020304" pitchFamily="18" charset="0"/>
                <a:sym typeface="Arial Rounded"/>
              </a:rPr>
              <a:t>54   ARYA PRAVIN TIWADE</a:t>
            </a:r>
          </a:p>
          <a:p>
            <a:pPr marL="0" lvl="0" indent="0" algn="l">
              <a:buClr>
                <a:schemeClr val="dk1"/>
              </a:buClr>
              <a:buSzPct val="83333"/>
            </a:pPr>
            <a:r>
              <a:rPr lang="en-US" sz="1200" dirty="0">
                <a:solidFill>
                  <a:schemeClr val="dk1"/>
                </a:solidFill>
                <a:latin typeface="Times New Roman" panose="02020603050405020304" pitchFamily="18" charset="0"/>
                <a:ea typeface="Arial Rounded"/>
                <a:cs typeface="Times New Roman" panose="02020603050405020304" pitchFamily="18" charset="0"/>
                <a:sym typeface="Arial Rounded"/>
              </a:rPr>
              <a:t>58   SANOBAR KHAN</a:t>
            </a:r>
            <a:endParaRPr sz="1200" dirty="0">
              <a:solidFill>
                <a:schemeClr val="dk1"/>
              </a:solidFill>
              <a:latin typeface="Times New Roman" panose="02020603050405020304" pitchFamily="18" charset="0"/>
              <a:ea typeface="Arial Rounded"/>
              <a:cs typeface="Times New Roman" panose="02020603050405020304" pitchFamily="18" charset="0"/>
              <a:sym typeface="Arial Rounded"/>
            </a:endParaRPr>
          </a:p>
          <a:p>
            <a:pPr marL="457200" lvl="0" indent="-304800" algn="l" rtl="0">
              <a:spcBef>
                <a:spcPts val="480"/>
              </a:spcBef>
              <a:spcAft>
                <a:spcPts val="0"/>
              </a:spcAft>
              <a:buClr>
                <a:srgbClr val="888888"/>
              </a:buClr>
              <a:buSzPct val="100000"/>
              <a:buFont typeface="Calibri"/>
              <a:buNone/>
            </a:pPr>
            <a:endParaRPr sz="1200" dirty="0"/>
          </a:p>
          <a:p>
            <a:pPr marL="457200" lvl="0" indent="-304800" algn="l" rtl="0">
              <a:spcBef>
                <a:spcPts val="480"/>
              </a:spcBef>
              <a:spcAft>
                <a:spcPts val="0"/>
              </a:spcAft>
              <a:buClr>
                <a:srgbClr val="888888"/>
              </a:buClr>
              <a:buSzPct val="100000"/>
              <a:buFont typeface="Calibri"/>
              <a:buNone/>
            </a:pPr>
            <a:endParaRPr sz="1100" dirty="0"/>
          </a:p>
          <a:p>
            <a:pPr marL="0" lvl="0" indent="0" algn="l" rtl="0">
              <a:spcBef>
                <a:spcPts val="480"/>
              </a:spcBef>
              <a:spcAft>
                <a:spcPts val="0"/>
              </a:spcAft>
              <a:buClr>
                <a:srgbClr val="888888"/>
              </a:buClr>
              <a:buSzPct val="100000"/>
              <a:buNone/>
            </a:pPr>
            <a:endParaRPr sz="1100" dirty="0"/>
          </a:p>
          <a:p>
            <a:pPr marL="0" lvl="0" indent="0" algn="l" rtl="0">
              <a:spcBef>
                <a:spcPts val="480"/>
              </a:spcBef>
              <a:spcAft>
                <a:spcPts val="0"/>
              </a:spcAft>
              <a:buClr>
                <a:srgbClr val="888888"/>
              </a:buClr>
              <a:buSzPct val="100000"/>
              <a:buNone/>
            </a:pPr>
            <a:endParaRPr sz="1100" dirty="0"/>
          </a:p>
          <a:p>
            <a:pPr marL="0" lvl="0" indent="0" algn="ctr" rtl="0">
              <a:spcBef>
                <a:spcPts val="640"/>
              </a:spcBef>
              <a:spcAft>
                <a:spcPts val="0"/>
              </a:spcAft>
              <a:buClr>
                <a:srgbClr val="888888"/>
              </a:buClr>
              <a:buSzPct val="114286"/>
              <a:buNone/>
            </a:pPr>
            <a:endParaRPr sz="1100" dirty="0"/>
          </a:p>
        </p:txBody>
      </p:sp>
      <p:pic>
        <p:nvPicPr>
          <p:cNvPr id="131" name="Google Shape;131;p14"/>
          <p:cNvPicPr preferRelativeResize="0"/>
          <p:nvPr/>
        </p:nvPicPr>
        <p:blipFill rotWithShape="1">
          <a:blip r:embed="rId4">
            <a:alphaModFix/>
          </a:blip>
          <a:srcRect/>
          <a:stretch/>
        </p:blipFill>
        <p:spPr>
          <a:xfrm>
            <a:off x="7492538" y="171450"/>
            <a:ext cx="1150991" cy="857250"/>
          </a:xfrm>
          <a:prstGeom prst="rect">
            <a:avLst/>
          </a:prstGeom>
          <a:noFill/>
          <a:ln>
            <a:noFill/>
          </a:ln>
        </p:spPr>
      </p:pic>
      <p:sp>
        <p:nvSpPr>
          <p:cNvPr id="132" name="Google Shape;132;p14"/>
          <p:cNvSpPr txBox="1"/>
          <p:nvPr/>
        </p:nvSpPr>
        <p:spPr>
          <a:xfrm>
            <a:off x="-369285" y="1195395"/>
            <a:ext cx="9144000" cy="463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1800" dirty="0">
              <a:solidFill>
                <a:schemeClr val="dk2"/>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045EC-2989-C968-55F9-E780FC43C184}"/>
              </a:ext>
            </a:extLst>
          </p:cNvPr>
          <p:cNvSpPr>
            <a:spLocks noGrp="1"/>
          </p:cNvSpPr>
          <p:nvPr>
            <p:ph type="title"/>
          </p:nvPr>
        </p:nvSpPr>
        <p:spPr>
          <a:xfrm>
            <a:off x="311700" y="74543"/>
            <a:ext cx="8520600" cy="722979"/>
          </a:xfrm>
          <a:solidFill>
            <a:srgbClr val="CC3300"/>
          </a:solidFill>
        </p:spPr>
        <p:txBody>
          <a:bodyPr>
            <a:noAutofit/>
          </a:bodyPr>
          <a:lstStyle/>
          <a:p>
            <a:r>
              <a:rPr lang="en-IN" sz="4000" b="1" dirty="0">
                <a:latin typeface="Times New Roman" panose="02020603050405020304" pitchFamily="18" charset="0"/>
                <a:cs typeface="Times New Roman" panose="02020603050405020304" pitchFamily="18" charset="0"/>
              </a:rPr>
              <a:t>INTRODUCTION</a:t>
            </a:r>
            <a:r>
              <a:rPr lang="en-IN" sz="4400" b="1" dirty="0">
                <a:latin typeface="Times New Roman" panose="02020603050405020304" pitchFamily="18" charset="0"/>
                <a:cs typeface="Times New Roman" panose="02020603050405020304" pitchFamily="18" charset="0"/>
              </a:rPr>
              <a:t> </a:t>
            </a:r>
            <a:endParaRPr lang="en-IN" sz="4400"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B0E1707A-ACD0-1E6E-4C73-B9B84F15109E}"/>
              </a:ext>
            </a:extLst>
          </p:cNvPr>
          <p:cNvSpPr txBox="1"/>
          <p:nvPr/>
        </p:nvSpPr>
        <p:spPr>
          <a:xfrm>
            <a:off x="496672" y="1076570"/>
            <a:ext cx="8150656" cy="830997"/>
          </a:xfrm>
          <a:prstGeom prst="rect">
            <a:avLst/>
          </a:prstGeom>
          <a:noFill/>
        </p:spPr>
        <p:txBody>
          <a:bodyPr wrap="square" rtlCol="0">
            <a:spAutoFit/>
          </a:bodyPr>
          <a:lstStyle/>
          <a:p>
            <a:r>
              <a:rPr lang="en-IN" sz="2400" dirty="0">
                <a:latin typeface="Times New Roman" panose="02020603050405020304" pitchFamily="18" charset="0"/>
                <a:cs typeface="Times New Roman" panose="02020603050405020304" pitchFamily="18" charset="0"/>
              </a:rPr>
              <a:t>The legal sector generates a large number of documents such as judgments, FIRs, petitions, contracts, and court orders every day.</a:t>
            </a:r>
          </a:p>
        </p:txBody>
      </p:sp>
      <p:sp>
        <p:nvSpPr>
          <p:cNvPr id="5" name="Heptagon 4">
            <a:extLst>
              <a:ext uri="{FF2B5EF4-FFF2-40B4-BE49-F238E27FC236}">
                <a16:creationId xmlns:a16="http://schemas.microsoft.com/office/drawing/2014/main" id="{827D5AA7-C97C-6C50-88D3-24F1FE03CA98}"/>
              </a:ext>
            </a:extLst>
          </p:cNvPr>
          <p:cNvSpPr/>
          <p:nvPr/>
        </p:nvSpPr>
        <p:spPr>
          <a:xfrm>
            <a:off x="153758" y="1180408"/>
            <a:ext cx="315883" cy="289757"/>
          </a:xfrm>
          <a:prstGeom prst="heptagon">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Heptagon 6">
            <a:extLst>
              <a:ext uri="{FF2B5EF4-FFF2-40B4-BE49-F238E27FC236}">
                <a16:creationId xmlns:a16="http://schemas.microsoft.com/office/drawing/2014/main" id="{41538DC5-EBBD-92A4-5A2A-DC65CDB344E0}"/>
              </a:ext>
            </a:extLst>
          </p:cNvPr>
          <p:cNvSpPr/>
          <p:nvPr/>
        </p:nvSpPr>
        <p:spPr>
          <a:xfrm>
            <a:off x="153758" y="2113312"/>
            <a:ext cx="315883" cy="289757"/>
          </a:xfrm>
          <a:prstGeom prst="heptagon">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Heptagon 8">
            <a:extLst>
              <a:ext uri="{FF2B5EF4-FFF2-40B4-BE49-F238E27FC236}">
                <a16:creationId xmlns:a16="http://schemas.microsoft.com/office/drawing/2014/main" id="{81039862-0DFB-C5B8-1C48-A24819C09550}"/>
              </a:ext>
            </a:extLst>
          </p:cNvPr>
          <p:cNvSpPr/>
          <p:nvPr/>
        </p:nvSpPr>
        <p:spPr>
          <a:xfrm>
            <a:off x="153758" y="3046216"/>
            <a:ext cx="315883" cy="289757"/>
          </a:xfrm>
          <a:prstGeom prst="heptagon">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Heptagon 10">
            <a:extLst>
              <a:ext uri="{FF2B5EF4-FFF2-40B4-BE49-F238E27FC236}">
                <a16:creationId xmlns:a16="http://schemas.microsoft.com/office/drawing/2014/main" id="{2F5F441B-DEFC-CD90-E985-E5DAAB1D00C8}"/>
              </a:ext>
            </a:extLst>
          </p:cNvPr>
          <p:cNvSpPr/>
          <p:nvPr/>
        </p:nvSpPr>
        <p:spPr>
          <a:xfrm>
            <a:off x="176605" y="4029364"/>
            <a:ext cx="315883" cy="289757"/>
          </a:xfrm>
          <a:prstGeom prst="heptagon">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TextBox 15">
            <a:extLst>
              <a:ext uri="{FF2B5EF4-FFF2-40B4-BE49-F238E27FC236}">
                <a16:creationId xmlns:a16="http://schemas.microsoft.com/office/drawing/2014/main" id="{39E8ED44-CBD0-9768-9901-33CD52D2F6B7}"/>
              </a:ext>
            </a:extLst>
          </p:cNvPr>
          <p:cNvSpPr txBox="1"/>
          <p:nvPr/>
        </p:nvSpPr>
        <p:spPr>
          <a:xfrm>
            <a:off x="565262" y="2048530"/>
            <a:ext cx="8088338" cy="1046440"/>
          </a:xfrm>
          <a:prstGeom prst="rect">
            <a:avLst/>
          </a:prstGeom>
          <a:noFill/>
        </p:spPr>
        <p:txBody>
          <a:bodyPr wrap="square" rtlCol="0">
            <a:spAutoFit/>
          </a:bodyPr>
          <a:lstStyle/>
          <a:p>
            <a:r>
              <a:rPr lang="en-IN" sz="2400" dirty="0">
                <a:latin typeface="Times New Roman" panose="02020603050405020304" pitchFamily="18" charset="0"/>
                <a:cs typeface="Times New Roman" panose="02020603050405020304" pitchFamily="18" charset="0"/>
              </a:rPr>
              <a:t>Manual processing of these documents is time-consuming and requires significant human effort</a:t>
            </a:r>
            <a:r>
              <a:rPr lang="en-IN" dirty="0">
                <a:latin typeface="Times New Roman" panose="02020603050405020304" pitchFamily="18" charset="0"/>
                <a:cs typeface="Times New Roman" panose="02020603050405020304" pitchFamily="18" charset="0"/>
              </a:rPr>
              <a:t>.</a:t>
            </a:r>
          </a:p>
          <a:p>
            <a:endParaRPr lang="en-IN" dirty="0"/>
          </a:p>
        </p:txBody>
      </p:sp>
      <p:sp>
        <p:nvSpPr>
          <p:cNvPr id="17" name="TextBox 16">
            <a:extLst>
              <a:ext uri="{FF2B5EF4-FFF2-40B4-BE49-F238E27FC236}">
                <a16:creationId xmlns:a16="http://schemas.microsoft.com/office/drawing/2014/main" id="{4D4A4875-88DF-35E3-38CF-CE62E42F66BA}"/>
              </a:ext>
            </a:extLst>
          </p:cNvPr>
          <p:cNvSpPr txBox="1"/>
          <p:nvPr/>
        </p:nvSpPr>
        <p:spPr>
          <a:xfrm>
            <a:off x="565262" y="2940046"/>
            <a:ext cx="7813967" cy="1046440"/>
          </a:xfrm>
          <a:prstGeom prst="rect">
            <a:avLst/>
          </a:prstGeom>
          <a:noFill/>
        </p:spPr>
        <p:txBody>
          <a:bodyPr wrap="square" rtlCol="0">
            <a:spAutoFit/>
          </a:bodyPr>
          <a:lstStyle/>
          <a:p>
            <a:r>
              <a:rPr lang="en-IN" sz="2400" dirty="0">
                <a:latin typeface="Times New Roman" panose="02020603050405020304" pitchFamily="18" charset="0"/>
                <a:cs typeface="Times New Roman" panose="02020603050405020304" pitchFamily="18" charset="0"/>
              </a:rPr>
              <a:t>Artificial Intelligence (AI) and Natural Language Processing (NLP) can help automate legal document analysis.</a:t>
            </a:r>
          </a:p>
          <a:p>
            <a:endParaRPr lang="en-IN" dirty="0"/>
          </a:p>
        </p:txBody>
      </p:sp>
      <p:sp>
        <p:nvSpPr>
          <p:cNvPr id="18" name="TextBox 17">
            <a:extLst>
              <a:ext uri="{FF2B5EF4-FFF2-40B4-BE49-F238E27FC236}">
                <a16:creationId xmlns:a16="http://schemas.microsoft.com/office/drawing/2014/main" id="{399FC438-3D29-0677-D3DB-E705917845D6}"/>
              </a:ext>
            </a:extLst>
          </p:cNvPr>
          <p:cNvSpPr txBox="1"/>
          <p:nvPr/>
        </p:nvSpPr>
        <p:spPr>
          <a:xfrm>
            <a:off x="565262" y="3831562"/>
            <a:ext cx="8183907" cy="1046440"/>
          </a:xfrm>
          <a:prstGeom prst="rect">
            <a:avLst/>
          </a:prstGeom>
          <a:noFill/>
        </p:spPr>
        <p:txBody>
          <a:bodyPr wrap="square" rtlCol="0">
            <a:spAutoFit/>
          </a:bodyPr>
          <a:lstStyle/>
          <a:p>
            <a:r>
              <a:rPr lang="en-IN" sz="2400" dirty="0">
                <a:latin typeface="Times New Roman" panose="02020603050405020304" pitchFamily="18" charset="0"/>
                <a:cs typeface="Times New Roman" panose="02020603050405020304" pitchFamily="18" charset="0"/>
              </a:rPr>
              <a:t>AI-based legal systems can improve the speed, accuracy, and efficiency of legal information processing.</a:t>
            </a:r>
          </a:p>
          <a:p>
            <a:endParaRPr lang="en-IN" dirty="0"/>
          </a:p>
        </p:txBody>
      </p:sp>
    </p:spTree>
    <p:extLst>
      <p:ext uri="{BB962C8B-B14F-4D97-AF65-F5344CB8AC3E}">
        <p14:creationId xmlns:p14="http://schemas.microsoft.com/office/powerpoint/2010/main" val="21895751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3A9302C6-73A1-59ED-4AAA-920A58ECF3A9}"/>
              </a:ext>
            </a:extLst>
          </p:cNvPr>
          <p:cNvGraphicFramePr>
            <a:graphicFrameLocks noGrp="1"/>
          </p:cNvGraphicFramePr>
          <p:nvPr>
            <p:extLst>
              <p:ext uri="{D42A27DB-BD31-4B8C-83A1-F6EECF244321}">
                <p14:modId xmlns:p14="http://schemas.microsoft.com/office/powerpoint/2010/main" val="1590680276"/>
              </p:ext>
            </p:extLst>
          </p:nvPr>
        </p:nvGraphicFramePr>
        <p:xfrm>
          <a:off x="0" y="972272"/>
          <a:ext cx="9144001" cy="4171227"/>
        </p:xfrm>
        <a:graphic>
          <a:graphicData uri="http://schemas.openxmlformats.org/drawingml/2006/table">
            <a:tbl>
              <a:tblPr firstRow="1" bandRow="1">
                <a:tableStyleId>{5C22544A-7EE6-4342-B048-85BDC9FD1C3A}</a:tableStyleId>
              </a:tblPr>
              <a:tblGrid>
                <a:gridCol w="601885">
                  <a:extLst>
                    <a:ext uri="{9D8B030D-6E8A-4147-A177-3AD203B41FA5}">
                      <a16:colId xmlns:a16="http://schemas.microsoft.com/office/drawing/2014/main" val="2555595206"/>
                    </a:ext>
                  </a:extLst>
                </a:gridCol>
                <a:gridCol w="2290724">
                  <a:extLst>
                    <a:ext uri="{9D8B030D-6E8A-4147-A177-3AD203B41FA5}">
                      <a16:colId xmlns:a16="http://schemas.microsoft.com/office/drawing/2014/main" val="3854120106"/>
                    </a:ext>
                  </a:extLst>
                </a:gridCol>
                <a:gridCol w="2232559">
                  <a:extLst>
                    <a:ext uri="{9D8B030D-6E8A-4147-A177-3AD203B41FA5}">
                      <a16:colId xmlns:a16="http://schemas.microsoft.com/office/drawing/2014/main" val="590936952"/>
                    </a:ext>
                  </a:extLst>
                </a:gridCol>
                <a:gridCol w="2050763">
                  <a:extLst>
                    <a:ext uri="{9D8B030D-6E8A-4147-A177-3AD203B41FA5}">
                      <a16:colId xmlns:a16="http://schemas.microsoft.com/office/drawing/2014/main" val="4278106691"/>
                    </a:ext>
                  </a:extLst>
                </a:gridCol>
                <a:gridCol w="1968070">
                  <a:extLst>
                    <a:ext uri="{9D8B030D-6E8A-4147-A177-3AD203B41FA5}">
                      <a16:colId xmlns:a16="http://schemas.microsoft.com/office/drawing/2014/main" val="4209415651"/>
                    </a:ext>
                  </a:extLst>
                </a:gridCol>
              </a:tblGrid>
              <a:tr h="1298590">
                <a:tc>
                  <a:txBody>
                    <a:bodyPr/>
                    <a:lstStyle/>
                    <a:p>
                      <a:pPr algn="ctr"/>
                      <a:r>
                        <a:rPr lang="en-US" sz="2000" dirty="0">
                          <a:solidFill>
                            <a:schemeClr val="tx1"/>
                          </a:solidFill>
                          <a:latin typeface="Times New Roman" panose="02020603050405020304" pitchFamily="18" charset="0"/>
                          <a:cs typeface="Times New Roman" panose="02020603050405020304" pitchFamily="18" charset="0"/>
                        </a:rPr>
                        <a:t>Ref. NO</a:t>
                      </a:r>
                      <a:endParaRPr lang="en-IN"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B48F"/>
                    </a:solidFill>
                  </a:tcPr>
                </a:tc>
                <a:tc>
                  <a:txBody>
                    <a:bodyPr/>
                    <a:lstStyle/>
                    <a:p>
                      <a:pPr algn="ctr"/>
                      <a:r>
                        <a:rPr lang="en-US" sz="2000" dirty="0">
                          <a:solidFill>
                            <a:schemeClr val="tx1"/>
                          </a:solidFill>
                          <a:latin typeface="Times New Roman" panose="02020603050405020304" pitchFamily="18" charset="0"/>
                          <a:cs typeface="Times New Roman" panose="02020603050405020304" pitchFamily="18" charset="0"/>
                        </a:rPr>
                        <a:t>PAPER</a:t>
                      </a:r>
                    </a:p>
                    <a:p>
                      <a:pPr algn="ctr"/>
                      <a:r>
                        <a:rPr lang="en-US" sz="2000" dirty="0">
                          <a:solidFill>
                            <a:schemeClr val="tx1"/>
                          </a:solidFill>
                          <a:latin typeface="Times New Roman" panose="02020603050405020304" pitchFamily="18" charset="0"/>
                          <a:cs typeface="Times New Roman" panose="02020603050405020304" pitchFamily="18" charset="0"/>
                        </a:rPr>
                        <a:t> TITLE</a:t>
                      </a:r>
                      <a:endParaRPr lang="en-IN"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B48F"/>
                    </a:solidFill>
                  </a:tcPr>
                </a:tc>
                <a:tc>
                  <a:txBody>
                    <a:bodyPr/>
                    <a:lstStyle/>
                    <a:p>
                      <a:pPr algn="ctr"/>
                      <a:r>
                        <a:rPr lang="en-US" sz="2000" dirty="0">
                          <a:solidFill>
                            <a:schemeClr val="tx1"/>
                          </a:solidFill>
                          <a:latin typeface="Times New Roman" panose="02020603050405020304" pitchFamily="18" charset="0"/>
                          <a:cs typeface="Times New Roman" panose="02020603050405020304" pitchFamily="18" charset="0"/>
                        </a:rPr>
                        <a:t>NAME OF </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2000" dirty="0">
                          <a:solidFill>
                            <a:schemeClr val="tx1"/>
                          </a:solidFill>
                          <a:latin typeface="Times New Roman" panose="02020603050405020304" pitchFamily="18" charset="0"/>
                          <a:cs typeface="Times New Roman" panose="02020603050405020304" pitchFamily="18" charset="0"/>
                        </a:rPr>
                        <a:t>ALGORITHM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B48F"/>
                    </a:solidFill>
                  </a:tcPr>
                </a:tc>
                <a:tc>
                  <a:txBody>
                    <a:bodyPr/>
                    <a:lstStyle/>
                    <a:p>
                      <a:pPr algn="ctr"/>
                      <a:r>
                        <a:rPr lang="en-US" sz="2000" dirty="0">
                          <a:solidFill>
                            <a:schemeClr val="tx1"/>
                          </a:solidFill>
                          <a:latin typeface="Times New Roman" panose="02020603050405020304" pitchFamily="18" charset="0"/>
                          <a:cs typeface="Times New Roman" panose="02020603050405020304" pitchFamily="18" charset="0"/>
                        </a:rPr>
                        <a:t>ADVANTAGES</a:t>
                      </a:r>
                      <a:endParaRPr lang="en-IN"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B48F"/>
                    </a:solidFill>
                  </a:tcPr>
                </a:tc>
                <a:tc>
                  <a:txBody>
                    <a:bodyPr/>
                    <a:lstStyle/>
                    <a:p>
                      <a:pPr algn="ctr"/>
                      <a:r>
                        <a:rPr lang="en-US" sz="2000" dirty="0">
                          <a:solidFill>
                            <a:schemeClr val="tx1"/>
                          </a:solidFill>
                          <a:latin typeface="Times New Roman" panose="02020603050405020304" pitchFamily="18" charset="0"/>
                          <a:cs typeface="Times New Roman" panose="02020603050405020304" pitchFamily="18" charset="0"/>
                        </a:rPr>
                        <a:t>DIS –</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2000" dirty="0">
                          <a:solidFill>
                            <a:schemeClr val="tx1"/>
                          </a:solidFill>
                          <a:latin typeface="Times New Roman" panose="02020603050405020304" pitchFamily="18" charset="0"/>
                          <a:cs typeface="Times New Roman" panose="02020603050405020304" pitchFamily="18" charset="0"/>
                        </a:rPr>
                        <a:t>ADVANTAGES</a:t>
                      </a:r>
                      <a:endParaRPr lang="en-IN"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B48F"/>
                    </a:solidFill>
                  </a:tcPr>
                </a:tc>
                <a:extLst>
                  <a:ext uri="{0D108BD9-81ED-4DB2-BD59-A6C34878D82A}">
                    <a16:rowId xmlns:a16="http://schemas.microsoft.com/office/drawing/2014/main" val="975465609"/>
                  </a:ext>
                </a:extLst>
              </a:tr>
              <a:tr h="2872637">
                <a:tc>
                  <a:txBody>
                    <a:bodyPr/>
                    <a:lstStyle/>
                    <a:p>
                      <a:pPr algn="ctr"/>
                      <a:endParaRPr lang="en-US" sz="2800" dirty="0">
                        <a:latin typeface="Times New Roman" panose="02020603050405020304" pitchFamily="18" charset="0"/>
                        <a:cs typeface="Times New Roman" panose="02020603050405020304" pitchFamily="18" charset="0"/>
                      </a:endParaRPr>
                    </a:p>
                    <a:p>
                      <a:pPr algn="ctr"/>
                      <a:r>
                        <a:rPr lang="en-US" sz="2800" dirty="0">
                          <a:latin typeface="Times New Roman" panose="02020603050405020304" pitchFamily="18" charset="0"/>
                          <a:cs typeface="Times New Roman" panose="02020603050405020304" pitchFamily="18" charset="0"/>
                        </a:rPr>
                        <a:t>1</a:t>
                      </a:r>
                      <a:endParaRPr lang="en-IN" sz="2800" dirty="0">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AC0B0"/>
                    </a:solidFill>
                  </a:tcPr>
                </a:tc>
                <a:tc>
                  <a:txBody>
                    <a:bodyPr/>
                    <a:lstStyle/>
                    <a:p>
                      <a:pPr algn="ctr"/>
                      <a:r>
                        <a:rPr lang="en-IN" dirty="0"/>
                        <a:t>S. Gupta, V. Agrawal, Y. Negi, S. </a:t>
                      </a:r>
                      <a:r>
                        <a:rPr lang="en-IN" dirty="0" err="1"/>
                        <a:t>Karunanithi</a:t>
                      </a:r>
                      <a:r>
                        <a:rPr lang="en-IN" dirty="0"/>
                        <a:t>, and A. Balakrishnan, "Reducing Hallucinations in Legal AI: A Retrieval-Augmented Generation Based Model for Accurate Legal Guidance," </a:t>
                      </a:r>
                      <a:r>
                        <a:rPr lang="en-IN" i="1" dirty="0"/>
                        <a:t>IEEE Access</a:t>
                      </a:r>
                      <a:r>
                        <a:rPr lang="en-IN" dirty="0"/>
                        <a:t>, </a:t>
                      </a:r>
                      <a:r>
                        <a:rPr lang="en-IN" b="1" dirty="0"/>
                        <a:t>2026</a:t>
                      </a:r>
                      <a:endParaRPr lang="en-IN" sz="1400" b="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AC0B0"/>
                    </a:solidFill>
                  </a:tcPr>
                </a:tc>
                <a:tc>
                  <a:txBody>
                    <a:bodyPr/>
                    <a:lstStyle/>
                    <a:p>
                      <a:pPr marL="285750" indent="-285750" algn="l">
                        <a:buFont typeface="Arial" panose="020B0604020202020204" pitchFamily="34" charset="0"/>
                        <a:buChar char="•"/>
                      </a:pPr>
                      <a:r>
                        <a:rPr lang="en-IN" sz="1400" b="0" dirty="0">
                          <a:latin typeface="Times New Roman" panose="02020603050405020304" pitchFamily="18" charset="0"/>
                          <a:cs typeface="Times New Roman" panose="02020603050405020304" pitchFamily="18" charset="0"/>
                        </a:rPr>
                        <a:t>Retrieval-Augmented Generation (RAG),</a:t>
                      </a:r>
                    </a:p>
                    <a:p>
                      <a:pPr marL="285750" indent="-285750" algn="l">
                        <a:buFont typeface="Arial" panose="020B0604020202020204" pitchFamily="34" charset="0"/>
                        <a:buChar char="•"/>
                      </a:pPr>
                      <a:r>
                        <a:rPr lang="en-IN" sz="1400" b="0" dirty="0">
                          <a:latin typeface="Times New Roman" panose="02020603050405020304" pitchFamily="18" charset="0"/>
                          <a:cs typeface="Times New Roman" panose="02020603050405020304" pitchFamily="18" charset="0"/>
                        </a:rPr>
                        <a:t>Vector Embeddings,</a:t>
                      </a:r>
                    </a:p>
                    <a:p>
                      <a:pPr marL="285750" indent="-285750" algn="l">
                        <a:buFont typeface="Arial" panose="020B0604020202020204" pitchFamily="34" charset="0"/>
                        <a:buChar char="•"/>
                      </a:pPr>
                      <a:r>
                        <a:rPr lang="en-IN" sz="1400" b="0" dirty="0">
                          <a:latin typeface="Times New Roman" panose="02020603050405020304" pitchFamily="18" charset="0"/>
                          <a:cs typeface="Times New Roman" panose="02020603050405020304" pitchFamily="18" charset="0"/>
                        </a:rPr>
                        <a:t>Semantic Search,</a:t>
                      </a:r>
                    </a:p>
                    <a:p>
                      <a:pPr marL="285750" indent="-285750" algn="l">
                        <a:buFont typeface="Arial" panose="020B0604020202020204" pitchFamily="34" charset="0"/>
                        <a:buChar char="•"/>
                      </a:pPr>
                      <a:r>
                        <a:rPr lang="en-IN" sz="1400" b="0" dirty="0">
                          <a:latin typeface="Times New Roman" panose="02020603050405020304" pitchFamily="18" charset="0"/>
                          <a:cs typeface="Times New Roman" panose="02020603050405020304" pitchFamily="18" charset="0"/>
                        </a:rPr>
                        <a:t>Large Language Models (LLMs)</a:t>
                      </a:r>
                    </a:p>
                    <a:p>
                      <a:pPr marL="285750" indent="-285750" algn="l">
                        <a:buFont typeface="Arial" panose="020B0604020202020204" pitchFamily="34" charset="0"/>
                        <a:buChar char="•"/>
                      </a:pPr>
                      <a:r>
                        <a:rPr lang="en-IN" sz="1400" b="0" dirty="0">
                          <a:latin typeface="Times New Roman" panose="02020603050405020304" pitchFamily="18" charset="0"/>
                          <a:cs typeface="Times New Roman" panose="02020603050405020304" pitchFamily="18" charset="0"/>
                        </a:rPr>
                        <a:t> Prompt Engineering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AC0B0"/>
                    </a:solidFill>
                  </a:tcPr>
                </a:tc>
                <a:tc>
                  <a:txBody>
                    <a:bodyPr/>
                    <a:lstStyle/>
                    <a:p>
                      <a:pPr marL="285750" indent="-285750">
                        <a:buFont typeface="Arial" panose="020B0604020202020204" pitchFamily="34" charset="0"/>
                        <a:buChar char="•"/>
                      </a:pPr>
                      <a:r>
                        <a:rPr lang="en-IN" sz="1500" b="0" dirty="0">
                          <a:latin typeface="Times New Roman" panose="02020603050405020304" pitchFamily="18" charset="0"/>
                          <a:cs typeface="Times New Roman" panose="02020603050405020304" pitchFamily="18" charset="0"/>
                        </a:rPr>
                        <a:t>Reduces AI hallucinations,</a:t>
                      </a:r>
                    </a:p>
                    <a:p>
                      <a:pPr marL="285750" indent="-285750">
                        <a:buFont typeface="Arial" panose="020B0604020202020204" pitchFamily="34" charset="0"/>
                        <a:buChar char="•"/>
                      </a:pPr>
                      <a:r>
                        <a:rPr lang="en-IN" sz="1500" b="0" dirty="0">
                          <a:latin typeface="Times New Roman" panose="02020603050405020304" pitchFamily="18" charset="0"/>
                          <a:cs typeface="Times New Roman" panose="02020603050405020304" pitchFamily="18" charset="0"/>
                        </a:rPr>
                        <a:t>Improves reliability of legal responses,</a:t>
                      </a:r>
                    </a:p>
                    <a:p>
                      <a:pPr marL="285750" indent="-285750">
                        <a:buFont typeface="Arial" panose="020B0604020202020204" pitchFamily="34" charset="0"/>
                        <a:buChar char="•"/>
                      </a:pPr>
                      <a:r>
                        <a:rPr lang="en-IN" sz="1500" b="0" dirty="0">
                          <a:latin typeface="Times New Roman" panose="02020603050405020304" pitchFamily="18" charset="0"/>
                          <a:cs typeface="Times New Roman" panose="02020603050405020304" pitchFamily="18" charset="0"/>
                        </a:rPr>
                        <a:t>Supports semantic legal search using verified Indian Legal documents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AC0B0"/>
                    </a:solidFill>
                  </a:tcPr>
                </a:tc>
                <a:tc>
                  <a:txBody>
                    <a:bodyPr/>
                    <a:lstStyle/>
                    <a:p>
                      <a:pPr marL="285750" indent="-285750">
                        <a:buFont typeface="Arial" panose="020B0604020202020204" pitchFamily="34" charset="0"/>
                        <a:buChar char="•"/>
                      </a:pPr>
                      <a:r>
                        <a:rPr lang="en-IN" sz="1500" b="0" dirty="0">
                          <a:latin typeface="Times New Roman" panose="02020603050405020304" pitchFamily="18" charset="0"/>
                          <a:cs typeface="Times New Roman" panose="02020603050405020304" pitchFamily="18" charset="0"/>
                        </a:rPr>
                        <a:t>Focuses only on legal question answering,</a:t>
                      </a:r>
                    </a:p>
                    <a:p>
                      <a:pPr marL="285750" indent="-285750">
                        <a:buFont typeface="Arial" panose="020B0604020202020204" pitchFamily="34" charset="0"/>
                        <a:buChar char="•"/>
                      </a:pPr>
                      <a:r>
                        <a:rPr lang="en-IN" sz="1500" b="0" dirty="0">
                          <a:latin typeface="Times New Roman" panose="02020603050405020304" pitchFamily="18" charset="0"/>
                          <a:cs typeface="Times New Roman" panose="02020603050405020304" pitchFamily="18" charset="0"/>
                        </a:rPr>
                        <a:t>Evaluated on a small dataset, </a:t>
                      </a:r>
                    </a:p>
                    <a:p>
                      <a:pPr marL="285750" indent="-285750">
                        <a:buFont typeface="Arial" panose="020B0604020202020204" pitchFamily="34" charset="0"/>
                        <a:buChar char="•"/>
                      </a:pPr>
                      <a:r>
                        <a:rPr lang="en-IN" sz="1500" b="0" dirty="0">
                          <a:latin typeface="Times New Roman" panose="02020603050405020304" pitchFamily="18" charset="0"/>
                          <a:cs typeface="Times New Roman" panose="02020603050405020304" pitchFamily="18" charset="0"/>
                        </a:rPr>
                        <a:t>lacks document </a:t>
                      </a:r>
                      <a:r>
                        <a:rPr lang="en-IN" sz="1500" b="1" dirty="0">
                          <a:latin typeface="Times New Roman" panose="02020603050405020304" pitchFamily="18" charset="0"/>
                          <a:cs typeface="Times New Roman" panose="02020603050405020304" pitchFamily="18" charset="0"/>
                        </a:rPr>
                        <a:t>classification, summarization, </a:t>
                      </a:r>
                    </a:p>
                    <a:p>
                      <a:pPr marL="285750" indent="-285750">
                        <a:buFont typeface="Arial" panose="020B0604020202020204" pitchFamily="34" charset="0"/>
                        <a:buChar char="•"/>
                      </a:pPr>
                      <a:r>
                        <a:rPr lang="en-IN" sz="1500" b="0" dirty="0">
                          <a:latin typeface="Times New Roman" panose="02020603050405020304" pitchFamily="18" charset="0"/>
                          <a:cs typeface="Times New Roman" panose="02020603050405020304" pitchFamily="18" charset="0"/>
                        </a:rPr>
                        <a:t>and </a:t>
                      </a:r>
                      <a:r>
                        <a:rPr lang="en-IN" sz="1500" b="1" dirty="0">
                          <a:latin typeface="Times New Roman" panose="02020603050405020304" pitchFamily="18" charset="0"/>
                          <a:cs typeface="Times New Roman" panose="02020603050405020304" pitchFamily="18" charset="0"/>
                        </a:rPr>
                        <a:t>multilingual processing</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AC0B0"/>
                    </a:solidFill>
                  </a:tcPr>
                </a:tc>
                <a:extLst>
                  <a:ext uri="{0D108BD9-81ED-4DB2-BD59-A6C34878D82A}">
                    <a16:rowId xmlns:a16="http://schemas.microsoft.com/office/drawing/2014/main" val="2882596503"/>
                  </a:ext>
                </a:extLst>
              </a:tr>
            </a:tbl>
          </a:graphicData>
        </a:graphic>
      </p:graphicFrame>
      <p:sp>
        <p:nvSpPr>
          <p:cNvPr id="3" name="TextBox 2">
            <a:extLst>
              <a:ext uri="{FF2B5EF4-FFF2-40B4-BE49-F238E27FC236}">
                <a16:creationId xmlns:a16="http://schemas.microsoft.com/office/drawing/2014/main" id="{768F7139-B23D-54DB-6C5E-054AB1D560EB}"/>
              </a:ext>
            </a:extLst>
          </p:cNvPr>
          <p:cNvSpPr txBox="1"/>
          <p:nvPr/>
        </p:nvSpPr>
        <p:spPr>
          <a:xfrm>
            <a:off x="1210234" y="149629"/>
            <a:ext cx="6670231" cy="523220"/>
          </a:xfrm>
          <a:prstGeom prst="rect">
            <a:avLst/>
          </a:prstGeom>
          <a:solidFill>
            <a:srgbClr val="CC3300"/>
          </a:solidFill>
        </p:spPr>
        <p:txBody>
          <a:bodyPr wrap="square" rtlCol="0">
            <a:spAutoFit/>
          </a:bodyPr>
          <a:lstStyle/>
          <a:p>
            <a:pPr algn="ctr"/>
            <a:r>
              <a:rPr lang="en-US" sz="2800" b="1" dirty="0">
                <a:latin typeface="Times New Roman" panose="02020603050405020304" pitchFamily="18" charset="0"/>
                <a:cs typeface="Times New Roman" panose="02020603050405020304" pitchFamily="18" charset="0"/>
              </a:rPr>
              <a:t>LITERATURE REVIEW</a:t>
            </a:r>
            <a:endParaRPr lang="en-IN" sz="2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857135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497D4C20-8986-BDD4-4708-A0B713C3F269}"/>
              </a:ext>
            </a:extLst>
          </p:cNvPr>
          <p:cNvGraphicFramePr>
            <a:graphicFrameLocks noGrp="1"/>
          </p:cNvGraphicFramePr>
          <p:nvPr>
            <p:extLst>
              <p:ext uri="{D42A27DB-BD31-4B8C-83A1-F6EECF244321}">
                <p14:modId xmlns:p14="http://schemas.microsoft.com/office/powerpoint/2010/main" val="1293247784"/>
              </p:ext>
            </p:extLst>
          </p:nvPr>
        </p:nvGraphicFramePr>
        <p:xfrm>
          <a:off x="0" y="959676"/>
          <a:ext cx="9144000" cy="4183823"/>
        </p:xfrm>
        <a:graphic>
          <a:graphicData uri="http://schemas.openxmlformats.org/drawingml/2006/table">
            <a:tbl>
              <a:tblPr firstRow="1" bandRow="1">
                <a:tableStyleId>{5C22544A-7EE6-4342-B048-85BDC9FD1C3A}</a:tableStyleId>
              </a:tblPr>
              <a:tblGrid>
                <a:gridCol w="804397">
                  <a:extLst>
                    <a:ext uri="{9D8B030D-6E8A-4147-A177-3AD203B41FA5}">
                      <a16:colId xmlns:a16="http://schemas.microsoft.com/office/drawing/2014/main" val="2555595206"/>
                    </a:ext>
                  </a:extLst>
                </a:gridCol>
                <a:gridCol w="2055310">
                  <a:extLst>
                    <a:ext uri="{9D8B030D-6E8A-4147-A177-3AD203B41FA5}">
                      <a16:colId xmlns:a16="http://schemas.microsoft.com/office/drawing/2014/main" val="3854120106"/>
                    </a:ext>
                  </a:extLst>
                </a:gridCol>
                <a:gridCol w="2244309">
                  <a:extLst>
                    <a:ext uri="{9D8B030D-6E8A-4147-A177-3AD203B41FA5}">
                      <a16:colId xmlns:a16="http://schemas.microsoft.com/office/drawing/2014/main" val="590936952"/>
                    </a:ext>
                  </a:extLst>
                </a:gridCol>
                <a:gridCol w="2061557">
                  <a:extLst>
                    <a:ext uri="{9D8B030D-6E8A-4147-A177-3AD203B41FA5}">
                      <a16:colId xmlns:a16="http://schemas.microsoft.com/office/drawing/2014/main" val="4278106691"/>
                    </a:ext>
                  </a:extLst>
                </a:gridCol>
                <a:gridCol w="1978427">
                  <a:extLst>
                    <a:ext uri="{9D8B030D-6E8A-4147-A177-3AD203B41FA5}">
                      <a16:colId xmlns:a16="http://schemas.microsoft.com/office/drawing/2014/main" val="4209415651"/>
                    </a:ext>
                  </a:extLst>
                </a:gridCol>
              </a:tblGrid>
              <a:tr h="1132364">
                <a:tc>
                  <a:txBody>
                    <a:bodyPr/>
                    <a:lstStyle/>
                    <a:p>
                      <a:pPr algn="ctr"/>
                      <a:r>
                        <a:rPr lang="en-US" sz="2000" dirty="0">
                          <a:solidFill>
                            <a:schemeClr val="tx1"/>
                          </a:solidFill>
                          <a:latin typeface="Times New Roman" panose="02020603050405020304" pitchFamily="18" charset="0"/>
                          <a:cs typeface="Times New Roman" panose="02020603050405020304" pitchFamily="18" charset="0"/>
                        </a:rPr>
                        <a:t>Ref. NO</a:t>
                      </a:r>
                      <a:endParaRPr lang="en-IN"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B48F"/>
                    </a:solidFill>
                  </a:tcPr>
                </a:tc>
                <a:tc>
                  <a:txBody>
                    <a:bodyPr/>
                    <a:lstStyle/>
                    <a:p>
                      <a:pPr algn="ctr"/>
                      <a:r>
                        <a:rPr lang="en-US" sz="2000" dirty="0">
                          <a:solidFill>
                            <a:schemeClr val="tx1"/>
                          </a:solidFill>
                          <a:latin typeface="Times New Roman" panose="02020603050405020304" pitchFamily="18" charset="0"/>
                          <a:cs typeface="Times New Roman" panose="02020603050405020304" pitchFamily="18" charset="0"/>
                        </a:rPr>
                        <a:t>PAPER</a:t>
                      </a:r>
                    </a:p>
                    <a:p>
                      <a:pPr algn="ctr"/>
                      <a:r>
                        <a:rPr lang="en-US" sz="2000" dirty="0">
                          <a:solidFill>
                            <a:schemeClr val="tx1"/>
                          </a:solidFill>
                          <a:latin typeface="Times New Roman" panose="02020603050405020304" pitchFamily="18" charset="0"/>
                          <a:cs typeface="Times New Roman" panose="02020603050405020304" pitchFamily="18" charset="0"/>
                        </a:rPr>
                        <a:t>TITLE</a:t>
                      </a:r>
                      <a:endParaRPr lang="en-IN" sz="2000" dirty="0">
                        <a:solidFill>
                          <a:schemeClr val="tx1"/>
                        </a:solidFill>
                        <a:latin typeface="Times New Roman" panose="02020603050405020304" pitchFamily="18" charset="0"/>
                        <a:cs typeface="Times New Roman" panose="02020603050405020304" pitchFamily="18" charset="0"/>
                      </a:endParaRPr>
                    </a:p>
                    <a:p>
                      <a:pPr algn="ctr"/>
                      <a:endParaRPr lang="en-IN"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B48F"/>
                    </a:solidFill>
                  </a:tcPr>
                </a:tc>
                <a:tc>
                  <a:txBody>
                    <a:bodyPr/>
                    <a:lstStyle/>
                    <a:p>
                      <a:pPr algn="ctr"/>
                      <a:r>
                        <a:rPr lang="en-US" sz="2000" dirty="0">
                          <a:solidFill>
                            <a:schemeClr val="tx1"/>
                          </a:solidFill>
                          <a:latin typeface="Times New Roman" panose="02020603050405020304" pitchFamily="18" charset="0"/>
                          <a:cs typeface="Times New Roman" panose="02020603050405020304" pitchFamily="18" charset="0"/>
                        </a:rPr>
                        <a:t>NAME OF </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2000" dirty="0">
                          <a:solidFill>
                            <a:schemeClr val="tx1"/>
                          </a:solidFill>
                          <a:latin typeface="Times New Roman" panose="02020603050405020304" pitchFamily="18" charset="0"/>
                          <a:cs typeface="Times New Roman" panose="02020603050405020304" pitchFamily="18" charset="0"/>
                        </a:rPr>
                        <a:t>ALGORITHM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B48F"/>
                    </a:solidFill>
                  </a:tcPr>
                </a:tc>
                <a:tc>
                  <a:txBody>
                    <a:bodyPr/>
                    <a:lstStyle/>
                    <a:p>
                      <a:pPr algn="ctr"/>
                      <a:r>
                        <a:rPr lang="en-US" sz="2000" dirty="0">
                          <a:solidFill>
                            <a:schemeClr val="tx1"/>
                          </a:solidFill>
                          <a:latin typeface="Times New Roman" panose="02020603050405020304" pitchFamily="18" charset="0"/>
                          <a:cs typeface="Times New Roman" panose="02020603050405020304" pitchFamily="18" charset="0"/>
                        </a:rPr>
                        <a:t>ADVANTAGES</a:t>
                      </a:r>
                      <a:endParaRPr lang="en-IN"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B48F"/>
                    </a:solidFill>
                  </a:tcPr>
                </a:tc>
                <a:tc>
                  <a:txBody>
                    <a:bodyPr/>
                    <a:lstStyle/>
                    <a:p>
                      <a:pPr algn="ctr"/>
                      <a:r>
                        <a:rPr lang="en-US" sz="2000" dirty="0">
                          <a:solidFill>
                            <a:schemeClr val="tx1"/>
                          </a:solidFill>
                          <a:latin typeface="Times New Roman" panose="02020603050405020304" pitchFamily="18" charset="0"/>
                          <a:cs typeface="Times New Roman" panose="02020603050405020304" pitchFamily="18" charset="0"/>
                        </a:rPr>
                        <a:t>DIS –</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2000" dirty="0">
                          <a:solidFill>
                            <a:schemeClr val="tx1"/>
                          </a:solidFill>
                          <a:latin typeface="Times New Roman" panose="02020603050405020304" pitchFamily="18" charset="0"/>
                          <a:cs typeface="Times New Roman" panose="02020603050405020304" pitchFamily="18" charset="0"/>
                        </a:rPr>
                        <a:t>ADVANTAGES</a:t>
                      </a:r>
                      <a:endParaRPr lang="en-IN" sz="2000" dirty="0">
                        <a:solidFill>
                          <a:schemeClr val="tx1"/>
                        </a:solidFill>
                        <a:latin typeface="Times New Roman" panose="02020603050405020304" pitchFamily="18" charset="0"/>
                        <a:cs typeface="Times New Roman" panose="02020603050405020304" pitchFamily="18" charset="0"/>
                      </a:endParaRPr>
                    </a:p>
                    <a:p>
                      <a:pPr algn="ctr"/>
                      <a:endParaRPr 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B48F"/>
                    </a:solidFill>
                  </a:tcPr>
                </a:tc>
                <a:extLst>
                  <a:ext uri="{0D108BD9-81ED-4DB2-BD59-A6C34878D82A}">
                    <a16:rowId xmlns:a16="http://schemas.microsoft.com/office/drawing/2014/main" val="975465609"/>
                  </a:ext>
                </a:extLst>
              </a:tr>
              <a:tr h="3051459">
                <a:tc>
                  <a:txBody>
                    <a:bodyPr/>
                    <a:lstStyle/>
                    <a:p>
                      <a:pPr algn="ctr"/>
                      <a:endParaRPr lang="en-US" sz="2800" dirty="0">
                        <a:latin typeface="Times New Roman" panose="02020603050405020304" pitchFamily="18" charset="0"/>
                        <a:cs typeface="Times New Roman" panose="02020603050405020304" pitchFamily="18" charset="0"/>
                      </a:endParaRPr>
                    </a:p>
                    <a:p>
                      <a:pPr algn="ctr"/>
                      <a:r>
                        <a:rPr lang="en-US" sz="2800" dirty="0">
                          <a:latin typeface="Times New Roman" panose="02020603050405020304" pitchFamily="18" charset="0"/>
                          <a:cs typeface="Times New Roman" panose="02020603050405020304" pitchFamily="18" charset="0"/>
                        </a:rPr>
                        <a:t>2</a:t>
                      </a:r>
                      <a:endParaRPr lang="en-IN" sz="2800" dirty="0">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rgbClr val="FCE5DC"/>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IN" sz="15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K. S. </a:t>
                      </a:r>
                      <a:r>
                        <a:rPr lang="en-IN" sz="1500" b="0" i="0" u="none" strike="noStrike" cap="none" dirty="0" err="1">
                          <a:solidFill>
                            <a:schemeClr val="dk1"/>
                          </a:solidFill>
                          <a:effectLst/>
                          <a:latin typeface="Times New Roman" panose="02020603050405020304" pitchFamily="18" charset="0"/>
                          <a:ea typeface="+mn-ea"/>
                          <a:cs typeface="Times New Roman" panose="02020603050405020304" pitchFamily="18" charset="0"/>
                          <a:sym typeface="Arial"/>
                        </a:rPr>
                        <a:t>Rosamma</a:t>
                      </a:r>
                      <a:r>
                        <a:rPr lang="en-IN" sz="15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 N. Patil, and C. D. </a:t>
                      </a:r>
                      <a:r>
                        <a:rPr lang="en-IN" sz="1500" b="0" i="0" u="none" strike="noStrike" cap="none" dirty="0" err="1">
                          <a:solidFill>
                            <a:schemeClr val="dk1"/>
                          </a:solidFill>
                          <a:effectLst/>
                          <a:latin typeface="Times New Roman" panose="02020603050405020304" pitchFamily="18" charset="0"/>
                          <a:ea typeface="+mn-ea"/>
                          <a:cs typeface="Times New Roman" panose="02020603050405020304" pitchFamily="18" charset="0"/>
                          <a:sym typeface="Arial"/>
                        </a:rPr>
                        <a:t>Jaidhar</a:t>
                      </a:r>
                      <a:r>
                        <a:rPr lang="en-IN" sz="15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 "Efficient and Fair Legal Judgment Classification via Personalized </a:t>
                      </a:r>
                      <a:r>
                        <a:rPr lang="en-IN" sz="1500" b="0" i="0" u="none" strike="noStrike" cap="none" dirty="0" err="1">
                          <a:solidFill>
                            <a:schemeClr val="dk1"/>
                          </a:solidFill>
                          <a:effectLst/>
                          <a:latin typeface="Times New Roman" panose="02020603050405020304" pitchFamily="18" charset="0"/>
                          <a:ea typeface="+mn-ea"/>
                          <a:cs typeface="Times New Roman" panose="02020603050405020304" pitchFamily="18" charset="0"/>
                          <a:sym typeface="Arial"/>
                        </a:rPr>
                        <a:t>GraphRank</a:t>
                      </a:r>
                      <a:r>
                        <a:rPr lang="en-IN" sz="15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 Summarization and Class-Balanced Learning," IEEE Access. </a:t>
                      </a:r>
                      <a:r>
                        <a:rPr lang="en-IN" sz="1500" b="1"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2026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rgbClr val="FCE5DC"/>
                    </a:solidFill>
                  </a:tcPr>
                </a:tc>
                <a:tc>
                  <a:txBody>
                    <a:bodyPr/>
                    <a:lstStyle/>
                    <a:p>
                      <a:pPr marL="285750" indent="-285750">
                        <a:buFont typeface="Arial" panose="020B0604020202020204" pitchFamily="34" charset="0"/>
                        <a:buChar char="•"/>
                      </a:pPr>
                      <a:r>
                        <a:rPr lang="en-IN" sz="1500" dirty="0" err="1">
                          <a:latin typeface="Times New Roman" panose="02020603050405020304" pitchFamily="18" charset="0"/>
                          <a:cs typeface="Times New Roman" panose="02020603050405020304" pitchFamily="18" charset="0"/>
                        </a:rPr>
                        <a:t>GraphRank</a:t>
                      </a:r>
                      <a:r>
                        <a:rPr lang="en-IN" sz="1500" dirty="0">
                          <a:latin typeface="Times New Roman" panose="02020603050405020304" pitchFamily="18" charset="0"/>
                          <a:cs typeface="Times New Roman" panose="02020603050405020304" pitchFamily="18" charset="0"/>
                        </a:rPr>
                        <a:t> (PGR)</a:t>
                      </a:r>
                    </a:p>
                    <a:p>
                      <a:pPr marL="285750" indent="-285750">
                        <a:buFont typeface="Arial" panose="020B0604020202020204" pitchFamily="34" charset="0"/>
                        <a:buChar char="•"/>
                      </a:pPr>
                      <a:r>
                        <a:rPr lang="en-IN" sz="1500" dirty="0">
                          <a:latin typeface="Times New Roman" panose="02020603050405020304" pitchFamily="18" charset="0"/>
                          <a:cs typeface="Times New Roman" panose="02020603050405020304" pitchFamily="18" charset="0"/>
                        </a:rPr>
                        <a:t>TF-IDF (Term Frequency–Inverse Document Frequency)</a:t>
                      </a:r>
                    </a:p>
                    <a:p>
                      <a:pPr marL="285750" indent="-285750">
                        <a:buFont typeface="Arial" panose="020B0604020202020204" pitchFamily="34" charset="0"/>
                        <a:buChar char="•"/>
                      </a:pPr>
                      <a:r>
                        <a:rPr lang="en-IN" sz="1500" dirty="0">
                          <a:latin typeface="Times New Roman" panose="02020603050405020304" pitchFamily="18" charset="0"/>
                          <a:cs typeface="Times New Roman" panose="02020603050405020304" pitchFamily="18" charset="0"/>
                        </a:rPr>
                        <a:t>Personalized PageRank, </a:t>
                      </a:r>
                    </a:p>
                    <a:p>
                      <a:pPr marL="285750" indent="-285750">
                        <a:buFont typeface="Arial" panose="020B0604020202020204" pitchFamily="34" charset="0"/>
                        <a:buChar char="•"/>
                      </a:pPr>
                      <a:r>
                        <a:rPr lang="en-IN" sz="1500" dirty="0">
                          <a:latin typeface="Times New Roman" panose="02020603050405020304" pitchFamily="18" charset="0"/>
                          <a:cs typeface="Times New Roman" panose="02020603050405020304" pitchFamily="18" charset="0"/>
                        </a:rPr>
                        <a:t>MMR (Maximal Marginal Relevance)</a:t>
                      </a:r>
                    </a:p>
                    <a:p>
                      <a:pPr marL="285750" indent="-285750">
                        <a:buFont typeface="Arial" panose="020B0604020202020204" pitchFamily="34" charset="0"/>
                        <a:buChar char="•"/>
                      </a:pPr>
                      <a:r>
                        <a:rPr lang="en-IN" sz="1500" dirty="0">
                          <a:latin typeface="Times New Roman" panose="02020603050405020304" pitchFamily="18" charset="0"/>
                          <a:cs typeface="Times New Roman" panose="02020603050405020304" pitchFamily="18" charset="0"/>
                        </a:rPr>
                        <a:t>DeBERTa-v3,</a:t>
                      </a:r>
                    </a:p>
                    <a:p>
                      <a:pPr marL="285750" indent="-285750">
                        <a:buFont typeface="Arial" panose="020B0604020202020204" pitchFamily="34" charset="0"/>
                        <a:buChar char="•"/>
                      </a:pPr>
                      <a:r>
                        <a:rPr lang="en-IN" sz="1500" dirty="0">
                          <a:latin typeface="Times New Roman" panose="02020603050405020304" pitchFamily="18" charset="0"/>
                          <a:cs typeface="Times New Roman" panose="02020603050405020304" pitchFamily="18" charset="0"/>
                        </a:rPr>
                        <a:t>Class-Balanced Learning</a:t>
                      </a:r>
                      <a:endParaRPr lang="en-IN" sz="1500" b="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rgbClr val="FCE5DC"/>
                    </a:solidFill>
                  </a:tcPr>
                </a:tc>
                <a:tc>
                  <a:txBody>
                    <a:bodyPr/>
                    <a:lstStyle/>
                    <a:p>
                      <a:pPr marL="285750" indent="-285750">
                        <a:buFont typeface="Arial" panose="020B0604020202020204" pitchFamily="34" charset="0"/>
                        <a:buChar char="•"/>
                      </a:pPr>
                      <a:r>
                        <a:rPr lang="en-IN" sz="1500" dirty="0">
                          <a:latin typeface="Times New Roman" panose="02020603050405020304" pitchFamily="18" charset="0"/>
                          <a:cs typeface="Times New Roman" panose="02020603050405020304" pitchFamily="18" charset="0"/>
                        </a:rPr>
                        <a:t>Improves legal judgment summarization and classification accuracy;</a:t>
                      </a:r>
                    </a:p>
                    <a:p>
                      <a:pPr marL="285750" indent="-285750">
                        <a:buFont typeface="Arial" panose="020B0604020202020204" pitchFamily="34" charset="0"/>
                        <a:buChar char="•"/>
                      </a:pPr>
                      <a:r>
                        <a:rPr lang="en-IN" sz="1500" dirty="0">
                          <a:latin typeface="Times New Roman" panose="02020603050405020304" pitchFamily="18" charset="0"/>
                          <a:cs typeface="Times New Roman" panose="02020603050405020304" pitchFamily="18" charset="0"/>
                        </a:rPr>
                        <a:t>effectively handles class imbalance</a:t>
                      </a:r>
                      <a:endParaRPr lang="en-IN" sz="1500" b="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rgbClr val="FCE5DC"/>
                    </a:solidFill>
                  </a:tcPr>
                </a:tc>
                <a:tc>
                  <a:txBody>
                    <a:bodyPr/>
                    <a:lstStyle/>
                    <a:p>
                      <a:pPr marL="285750" indent="-285750">
                        <a:buFont typeface="Arial" panose="020B0604020202020204" pitchFamily="34" charset="0"/>
                        <a:buChar char="•"/>
                      </a:pPr>
                      <a:r>
                        <a:rPr lang="en-IN" dirty="0"/>
                        <a:t>Evaluated on </a:t>
                      </a:r>
                      <a:r>
                        <a:rPr lang="en-IN" b="1" dirty="0"/>
                        <a:t>European </a:t>
                      </a:r>
                      <a:r>
                        <a:rPr lang="en-IN" dirty="0"/>
                        <a:t>legal judgments;</a:t>
                      </a:r>
                    </a:p>
                    <a:p>
                      <a:pPr marL="285750" indent="-285750">
                        <a:buFont typeface="Arial" panose="020B0604020202020204" pitchFamily="34" charset="0"/>
                        <a:buChar char="•"/>
                      </a:pPr>
                      <a:r>
                        <a:rPr lang="en-IN" dirty="0"/>
                        <a:t>lacks </a:t>
                      </a:r>
                      <a:r>
                        <a:rPr lang="en-IN" b="1" dirty="0"/>
                        <a:t>multilingual support, </a:t>
                      </a:r>
                      <a:r>
                        <a:rPr lang="en-IN" b="0" dirty="0"/>
                        <a:t>semantic retrieval</a:t>
                      </a:r>
                      <a:r>
                        <a:rPr lang="en-IN" b="1" dirty="0"/>
                        <a:t>,</a:t>
                      </a:r>
                      <a:r>
                        <a:rPr lang="en-IN" dirty="0"/>
                        <a:t> and integrated </a:t>
                      </a:r>
                      <a:r>
                        <a:rPr lang="en-IN" b="1" dirty="0"/>
                        <a:t>legal intelligence platform</a:t>
                      </a:r>
                      <a:endParaRPr lang="en-IN" sz="1400" b="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rgbClr val="FCE5DC"/>
                    </a:solidFill>
                  </a:tcPr>
                </a:tc>
                <a:extLst>
                  <a:ext uri="{0D108BD9-81ED-4DB2-BD59-A6C34878D82A}">
                    <a16:rowId xmlns:a16="http://schemas.microsoft.com/office/drawing/2014/main" val="2136418382"/>
                  </a:ext>
                </a:extLst>
              </a:tr>
            </a:tbl>
          </a:graphicData>
        </a:graphic>
      </p:graphicFrame>
      <p:sp>
        <p:nvSpPr>
          <p:cNvPr id="5" name="TextBox 4">
            <a:extLst>
              <a:ext uri="{FF2B5EF4-FFF2-40B4-BE49-F238E27FC236}">
                <a16:creationId xmlns:a16="http://schemas.microsoft.com/office/drawing/2014/main" id="{17E19E5B-B63A-6D62-7097-EC910B871ACD}"/>
              </a:ext>
            </a:extLst>
          </p:cNvPr>
          <p:cNvSpPr txBox="1"/>
          <p:nvPr/>
        </p:nvSpPr>
        <p:spPr>
          <a:xfrm>
            <a:off x="1105593" y="162677"/>
            <a:ext cx="6932814" cy="523220"/>
          </a:xfrm>
          <a:prstGeom prst="rect">
            <a:avLst/>
          </a:prstGeom>
          <a:solidFill>
            <a:srgbClr val="CC3300"/>
          </a:solidFill>
        </p:spPr>
        <p:txBody>
          <a:bodyPr wrap="square" rtlCol="0">
            <a:spAutoFit/>
          </a:bodyPr>
          <a:lstStyle/>
          <a:p>
            <a:pPr algn="ctr"/>
            <a:r>
              <a:rPr lang="en-US" sz="2800" b="1" dirty="0">
                <a:latin typeface="Times New Roman" panose="02020603050405020304" pitchFamily="18" charset="0"/>
                <a:cs typeface="Times New Roman" panose="02020603050405020304" pitchFamily="18" charset="0"/>
              </a:rPr>
              <a:t>LITERATURE REVIEW</a:t>
            </a:r>
            <a:endParaRPr lang="en-IN" sz="2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989451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6ED6E4AD-4714-128F-62E4-8B01245A99D1}"/>
              </a:ext>
            </a:extLst>
          </p:cNvPr>
          <p:cNvGraphicFramePr>
            <a:graphicFrameLocks noGrp="1"/>
          </p:cNvGraphicFramePr>
          <p:nvPr>
            <p:extLst>
              <p:ext uri="{D42A27DB-BD31-4B8C-83A1-F6EECF244321}">
                <p14:modId xmlns:p14="http://schemas.microsoft.com/office/powerpoint/2010/main" val="1377004657"/>
              </p:ext>
            </p:extLst>
          </p:nvPr>
        </p:nvGraphicFramePr>
        <p:xfrm>
          <a:off x="0" y="0"/>
          <a:ext cx="9143998" cy="5143499"/>
        </p:xfrm>
        <a:graphic>
          <a:graphicData uri="http://schemas.openxmlformats.org/drawingml/2006/table">
            <a:tbl>
              <a:tblPr firstRow="1" bandRow="1">
                <a:tableStyleId>{5C22544A-7EE6-4342-B048-85BDC9FD1C3A}</a:tableStyleId>
              </a:tblPr>
              <a:tblGrid>
                <a:gridCol w="749395">
                  <a:extLst>
                    <a:ext uri="{9D8B030D-6E8A-4147-A177-3AD203B41FA5}">
                      <a16:colId xmlns:a16="http://schemas.microsoft.com/office/drawing/2014/main" val="3586887849"/>
                    </a:ext>
                  </a:extLst>
                </a:gridCol>
                <a:gridCol w="2110311">
                  <a:extLst>
                    <a:ext uri="{9D8B030D-6E8A-4147-A177-3AD203B41FA5}">
                      <a16:colId xmlns:a16="http://schemas.microsoft.com/office/drawing/2014/main" val="1548985067"/>
                    </a:ext>
                  </a:extLst>
                </a:gridCol>
                <a:gridCol w="2244309">
                  <a:extLst>
                    <a:ext uri="{9D8B030D-6E8A-4147-A177-3AD203B41FA5}">
                      <a16:colId xmlns:a16="http://schemas.microsoft.com/office/drawing/2014/main" val="2533120191"/>
                    </a:ext>
                  </a:extLst>
                </a:gridCol>
                <a:gridCol w="2061556">
                  <a:extLst>
                    <a:ext uri="{9D8B030D-6E8A-4147-A177-3AD203B41FA5}">
                      <a16:colId xmlns:a16="http://schemas.microsoft.com/office/drawing/2014/main" val="285886943"/>
                    </a:ext>
                  </a:extLst>
                </a:gridCol>
                <a:gridCol w="1978427">
                  <a:extLst>
                    <a:ext uri="{9D8B030D-6E8A-4147-A177-3AD203B41FA5}">
                      <a16:colId xmlns:a16="http://schemas.microsoft.com/office/drawing/2014/main" val="1917184722"/>
                    </a:ext>
                  </a:extLst>
                </a:gridCol>
              </a:tblGrid>
              <a:tr h="1019432">
                <a:tc>
                  <a:txBody>
                    <a:bodyPr/>
                    <a:lstStyle/>
                    <a:p>
                      <a:pPr algn="ctr"/>
                      <a:r>
                        <a:rPr lang="en-US" sz="2000" dirty="0">
                          <a:solidFill>
                            <a:schemeClr val="tx1"/>
                          </a:solidFill>
                          <a:latin typeface="Times New Roman" panose="02020603050405020304" pitchFamily="18" charset="0"/>
                          <a:cs typeface="Times New Roman" panose="02020603050405020304" pitchFamily="18" charset="0"/>
                        </a:rPr>
                        <a:t>Ref. NO</a:t>
                      </a:r>
                      <a:endParaRPr lang="en-IN"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B48F"/>
                    </a:solidFill>
                  </a:tcPr>
                </a:tc>
                <a:tc>
                  <a:txBody>
                    <a:bodyPr/>
                    <a:lstStyle/>
                    <a:p>
                      <a:pPr algn="ctr"/>
                      <a:r>
                        <a:rPr lang="en-US" sz="2000" dirty="0">
                          <a:solidFill>
                            <a:schemeClr val="tx1"/>
                          </a:solidFill>
                          <a:latin typeface="Times New Roman" panose="02020603050405020304" pitchFamily="18" charset="0"/>
                          <a:cs typeface="Times New Roman" panose="02020603050405020304" pitchFamily="18" charset="0"/>
                        </a:rPr>
                        <a:t>PAPER</a:t>
                      </a:r>
                    </a:p>
                    <a:p>
                      <a:pPr algn="ctr"/>
                      <a:r>
                        <a:rPr lang="en-US" sz="2000" dirty="0">
                          <a:solidFill>
                            <a:schemeClr val="tx1"/>
                          </a:solidFill>
                          <a:latin typeface="Times New Roman" panose="02020603050405020304" pitchFamily="18" charset="0"/>
                          <a:cs typeface="Times New Roman" panose="02020603050405020304" pitchFamily="18" charset="0"/>
                        </a:rPr>
                        <a:t> TITLE</a:t>
                      </a:r>
                      <a:endParaRPr lang="en-IN"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B48F"/>
                    </a:solidFill>
                  </a:tcPr>
                </a:tc>
                <a:tc>
                  <a:txBody>
                    <a:bodyPr/>
                    <a:lstStyle/>
                    <a:p>
                      <a:pPr algn="ctr"/>
                      <a:r>
                        <a:rPr lang="en-US" sz="2000" dirty="0">
                          <a:solidFill>
                            <a:schemeClr val="tx1"/>
                          </a:solidFill>
                          <a:latin typeface="Times New Roman" panose="02020603050405020304" pitchFamily="18" charset="0"/>
                          <a:cs typeface="Times New Roman" panose="02020603050405020304" pitchFamily="18" charset="0"/>
                        </a:rPr>
                        <a:t>NAME OF </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2000" dirty="0">
                          <a:solidFill>
                            <a:schemeClr val="tx1"/>
                          </a:solidFill>
                          <a:latin typeface="Times New Roman" panose="02020603050405020304" pitchFamily="18" charset="0"/>
                          <a:cs typeface="Times New Roman" panose="02020603050405020304" pitchFamily="18" charset="0"/>
                        </a:rPr>
                        <a:t>ALGORITHM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B48F"/>
                    </a:solidFill>
                  </a:tcPr>
                </a:tc>
                <a:tc>
                  <a:txBody>
                    <a:bodyPr/>
                    <a:lstStyle/>
                    <a:p>
                      <a:pPr algn="ctr"/>
                      <a:r>
                        <a:rPr lang="en-US" sz="2000" dirty="0">
                          <a:solidFill>
                            <a:schemeClr val="tx1"/>
                          </a:solidFill>
                          <a:latin typeface="Times New Roman" panose="02020603050405020304" pitchFamily="18" charset="0"/>
                          <a:cs typeface="Times New Roman" panose="02020603050405020304" pitchFamily="18" charset="0"/>
                        </a:rPr>
                        <a:t>ADVANTAGES</a:t>
                      </a:r>
                      <a:endParaRPr lang="en-IN"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B48F"/>
                    </a:solidFill>
                  </a:tcPr>
                </a:tc>
                <a:tc>
                  <a:txBody>
                    <a:bodyPr/>
                    <a:lstStyle/>
                    <a:p>
                      <a:pPr algn="ctr"/>
                      <a:r>
                        <a:rPr lang="en-US" sz="2000" dirty="0">
                          <a:solidFill>
                            <a:schemeClr val="tx1"/>
                          </a:solidFill>
                          <a:latin typeface="Times New Roman" panose="02020603050405020304" pitchFamily="18" charset="0"/>
                          <a:cs typeface="Times New Roman" panose="02020603050405020304" pitchFamily="18" charset="0"/>
                        </a:rPr>
                        <a:t>DIS –</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2000" dirty="0">
                          <a:solidFill>
                            <a:schemeClr val="tx1"/>
                          </a:solidFill>
                          <a:latin typeface="Times New Roman" panose="02020603050405020304" pitchFamily="18" charset="0"/>
                          <a:cs typeface="Times New Roman" panose="02020603050405020304" pitchFamily="18" charset="0"/>
                        </a:rPr>
                        <a:t>ADVANTAGES</a:t>
                      </a:r>
                      <a:endParaRPr lang="en-IN" sz="2000" dirty="0">
                        <a:solidFill>
                          <a:schemeClr val="tx1"/>
                        </a:solidFill>
                        <a:latin typeface="Times New Roman" panose="02020603050405020304" pitchFamily="18" charset="0"/>
                        <a:cs typeface="Times New Roman" panose="02020603050405020304" pitchFamily="18" charset="0"/>
                      </a:endParaRPr>
                    </a:p>
                    <a:p>
                      <a:pPr algn="ctr"/>
                      <a:endParaRPr 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B48F"/>
                    </a:solidFill>
                  </a:tcPr>
                </a:tc>
                <a:extLst>
                  <a:ext uri="{0D108BD9-81ED-4DB2-BD59-A6C34878D82A}">
                    <a16:rowId xmlns:a16="http://schemas.microsoft.com/office/drawing/2014/main" val="2572685241"/>
                  </a:ext>
                </a:extLst>
              </a:tr>
              <a:tr h="2177878">
                <a:tc>
                  <a:txBody>
                    <a:bodyPr/>
                    <a:lstStyle/>
                    <a:p>
                      <a:pPr algn="ctr"/>
                      <a:endParaRPr lang="en-US" sz="2800" dirty="0">
                        <a:latin typeface="Times New Roman" panose="02020603050405020304" pitchFamily="18" charset="0"/>
                        <a:cs typeface="Times New Roman" panose="02020603050405020304" pitchFamily="18" charset="0"/>
                      </a:endParaRPr>
                    </a:p>
                    <a:p>
                      <a:pPr algn="ctr"/>
                      <a:r>
                        <a:rPr lang="en-US" sz="2800" dirty="0">
                          <a:latin typeface="Times New Roman" panose="02020603050405020304" pitchFamily="18" charset="0"/>
                          <a:cs typeface="Times New Roman" panose="02020603050405020304" pitchFamily="18" charset="0"/>
                        </a:rPr>
                        <a:t>3</a:t>
                      </a:r>
                      <a:endParaRPr lang="en-IN" sz="2800" dirty="0">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AC0B0"/>
                    </a:solidFill>
                  </a:tcPr>
                </a:tc>
                <a:tc>
                  <a:txBody>
                    <a:bodyPr/>
                    <a:lstStyle/>
                    <a:p>
                      <a:pPr algn="ctr"/>
                      <a:r>
                        <a:rPr lang="en-IN" sz="1500" dirty="0">
                          <a:latin typeface="Times New Roman" panose="02020603050405020304" pitchFamily="18" charset="0"/>
                          <a:cs typeface="Times New Roman" panose="02020603050405020304" pitchFamily="18" charset="0"/>
                        </a:rPr>
                        <a:t>N. Chalkidis </a:t>
                      </a:r>
                      <a:r>
                        <a:rPr lang="en-IN" sz="1500" i="1" dirty="0">
                          <a:latin typeface="Times New Roman" panose="02020603050405020304" pitchFamily="18" charset="0"/>
                          <a:cs typeface="Times New Roman" panose="02020603050405020304" pitchFamily="18" charset="0"/>
                        </a:rPr>
                        <a:t>et al</a:t>
                      </a:r>
                      <a:r>
                        <a:rPr lang="en-IN" sz="1500" dirty="0">
                          <a:latin typeface="Times New Roman" panose="02020603050405020304" pitchFamily="18" charset="0"/>
                          <a:cs typeface="Times New Roman" panose="02020603050405020304" pitchFamily="18" charset="0"/>
                        </a:rPr>
                        <a:t>., "Legal Natural Language Processing from 2015–2022: A Comprehensive Systematic Mapping Study of Advances and Applications," </a:t>
                      </a:r>
                      <a:r>
                        <a:rPr lang="en-IN" sz="1500" b="1" dirty="0">
                          <a:latin typeface="Times New Roman" panose="02020603050405020304" pitchFamily="18" charset="0"/>
                          <a:cs typeface="Times New Roman" panose="02020603050405020304" pitchFamily="18" charset="0"/>
                        </a:rPr>
                        <a:t>2023.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AC0B0"/>
                    </a:solidFill>
                  </a:tcPr>
                </a:tc>
                <a:tc>
                  <a:txBody>
                    <a:bodyPr/>
                    <a:lstStyle/>
                    <a:p>
                      <a:pPr marL="285750" indent="-285750">
                        <a:buFont typeface="Arial" panose="020B0604020202020204" pitchFamily="34" charset="0"/>
                        <a:buChar char="•"/>
                      </a:pPr>
                      <a:r>
                        <a:rPr lang="en-IN" sz="1500" dirty="0">
                          <a:latin typeface="Times New Roman" panose="02020603050405020304" pitchFamily="18" charset="0"/>
                          <a:cs typeface="Times New Roman" panose="02020603050405020304" pitchFamily="18" charset="0"/>
                        </a:rPr>
                        <a:t>Systematic Mapping Study (SMS),</a:t>
                      </a:r>
                    </a:p>
                    <a:p>
                      <a:pPr marL="285750" indent="-285750">
                        <a:buFont typeface="Arial" panose="020B0604020202020204" pitchFamily="34" charset="0"/>
                        <a:buChar char="•"/>
                      </a:pPr>
                      <a:r>
                        <a:rPr lang="en-IN" sz="1500" dirty="0">
                          <a:latin typeface="Times New Roman" panose="02020603050405020304" pitchFamily="18" charset="0"/>
                          <a:cs typeface="Times New Roman" panose="02020603050405020304" pitchFamily="18" charset="0"/>
                        </a:rPr>
                        <a:t>Literature Review, Analysis of Legal NLP tasks, </a:t>
                      </a:r>
                    </a:p>
                    <a:p>
                      <a:pPr marL="285750" indent="-285750">
                        <a:buFont typeface="Arial" panose="020B0604020202020204" pitchFamily="34" charset="0"/>
                        <a:buChar char="•"/>
                      </a:pPr>
                      <a:r>
                        <a:rPr lang="en-IN" sz="1500" dirty="0">
                          <a:latin typeface="Times New Roman" panose="02020603050405020304" pitchFamily="18" charset="0"/>
                          <a:cs typeface="Times New Roman" panose="02020603050405020304" pitchFamily="18" charset="0"/>
                        </a:rPr>
                        <a:t>datasets and models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AC0B0"/>
                    </a:solidFill>
                  </a:tcPr>
                </a:tc>
                <a:tc>
                  <a:txBody>
                    <a:bodyPr/>
                    <a:lstStyle/>
                    <a:p>
                      <a:pPr marL="285750" indent="-285750">
                        <a:buFont typeface="Arial" panose="020B0604020202020204" pitchFamily="34" charset="0"/>
                        <a:buChar char="•"/>
                      </a:pPr>
                      <a:r>
                        <a:rPr lang="en-IN" sz="1500" dirty="0">
                          <a:latin typeface="Times New Roman" panose="02020603050405020304" pitchFamily="18" charset="0"/>
                          <a:cs typeface="Times New Roman" panose="02020603050405020304" pitchFamily="18" charset="0"/>
                        </a:rPr>
                        <a:t>Provides a comprehensive overview of Legal NLP techniques, datasets, applications.</a:t>
                      </a:r>
                    </a:p>
                    <a:p>
                      <a:pPr marL="285750" indent="-285750">
                        <a:buFont typeface="Arial" panose="020B0604020202020204" pitchFamily="34" charset="0"/>
                        <a:buChar char="•"/>
                      </a:pPr>
                      <a:r>
                        <a:rPr lang="en-IN" sz="1500" dirty="0">
                          <a:latin typeface="Times New Roman" panose="02020603050405020304" pitchFamily="18" charset="0"/>
                          <a:cs typeface="Times New Roman" panose="02020603050405020304" pitchFamily="18" charset="0"/>
                        </a:rPr>
                        <a:t>Identifies major research trends and gaps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AC0B0"/>
                    </a:solidFill>
                  </a:tcPr>
                </a:tc>
                <a:tc>
                  <a:txBody>
                    <a:bodyPr/>
                    <a:lstStyle/>
                    <a:p>
                      <a:pPr marL="285750" indent="-285750">
                        <a:buFont typeface="Arial" panose="020B0604020202020204" pitchFamily="34" charset="0"/>
                        <a:buChar char="•"/>
                      </a:pPr>
                      <a:r>
                        <a:rPr lang="en-IN" sz="1500" dirty="0">
                          <a:latin typeface="Times New Roman" panose="02020603050405020304" pitchFamily="18" charset="0"/>
                          <a:cs typeface="Times New Roman" panose="02020603050405020304" pitchFamily="18" charset="0"/>
                        </a:rPr>
                        <a:t>Survey paper only;</a:t>
                      </a:r>
                    </a:p>
                    <a:p>
                      <a:pPr marL="285750" indent="-285750">
                        <a:buFont typeface="Arial" panose="020B0604020202020204" pitchFamily="34" charset="0"/>
                        <a:buChar char="•"/>
                      </a:pPr>
                      <a:r>
                        <a:rPr lang="en-IN" sz="1500" dirty="0">
                          <a:latin typeface="Times New Roman" panose="02020603050405020304" pitchFamily="18" charset="0"/>
                          <a:cs typeface="Times New Roman" panose="02020603050405020304" pitchFamily="18" charset="0"/>
                        </a:rPr>
                        <a:t>no implementation or evaluation of an AI model;</a:t>
                      </a:r>
                    </a:p>
                    <a:p>
                      <a:pPr marL="285750" indent="-285750">
                        <a:buFont typeface="Arial" panose="020B0604020202020204" pitchFamily="34" charset="0"/>
                        <a:buChar char="•"/>
                      </a:pPr>
                      <a:r>
                        <a:rPr lang="en-IN" sz="1500" dirty="0">
                          <a:latin typeface="Times New Roman" panose="02020603050405020304" pitchFamily="18" charset="0"/>
                          <a:cs typeface="Times New Roman" panose="02020603050405020304" pitchFamily="18" charset="0"/>
                        </a:rPr>
                        <a:t>limited focus on </a:t>
                      </a:r>
                      <a:r>
                        <a:rPr lang="en-IN" sz="1500" b="1" dirty="0">
                          <a:latin typeface="Times New Roman" panose="02020603050405020304" pitchFamily="18" charset="0"/>
                          <a:cs typeface="Times New Roman" panose="02020603050405020304" pitchFamily="18" charset="0"/>
                        </a:rPr>
                        <a:t>multilingual </a:t>
                      </a:r>
                      <a:r>
                        <a:rPr lang="en-IN" sz="1500" dirty="0">
                          <a:latin typeface="Times New Roman" panose="02020603050405020304" pitchFamily="18" charset="0"/>
                          <a:cs typeface="Times New Roman" panose="02020603050405020304" pitchFamily="18" charset="0"/>
                        </a:rPr>
                        <a:t>and Indian legal NLP</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AC0B0"/>
                    </a:solidFill>
                  </a:tcPr>
                </a:tc>
                <a:extLst>
                  <a:ext uri="{0D108BD9-81ED-4DB2-BD59-A6C34878D82A}">
                    <a16:rowId xmlns:a16="http://schemas.microsoft.com/office/drawing/2014/main" val="2348311593"/>
                  </a:ext>
                </a:extLst>
              </a:tr>
              <a:tr h="1946189">
                <a:tc>
                  <a:txBody>
                    <a:bodyPr/>
                    <a:lstStyle/>
                    <a:p>
                      <a:pPr algn="ctr"/>
                      <a:endParaRPr lang="en-US" sz="2800" dirty="0">
                        <a:latin typeface="Times New Roman" panose="02020603050405020304" pitchFamily="18" charset="0"/>
                        <a:cs typeface="Times New Roman" panose="02020603050405020304" pitchFamily="18" charset="0"/>
                      </a:endParaRPr>
                    </a:p>
                    <a:p>
                      <a:pPr algn="ctr"/>
                      <a:r>
                        <a:rPr lang="en-IN" sz="2800" dirty="0">
                          <a:latin typeface="Times New Roman" panose="02020603050405020304" pitchFamily="18" charset="0"/>
                          <a:cs typeface="Times New Roman" panose="02020603050405020304" pitchFamily="18" charset="0"/>
                        </a:rPr>
                        <a:t>4</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rgbClr val="FCE5DC"/>
                    </a:solidFill>
                  </a:tcPr>
                </a:tc>
                <a:tc>
                  <a:txBody>
                    <a:bodyPr/>
                    <a:lstStyle/>
                    <a:p>
                      <a:r>
                        <a:rPr lang="en-IN" sz="1500" dirty="0">
                          <a:latin typeface="Times New Roman" panose="02020603050405020304" pitchFamily="18" charset="0"/>
                          <a:cs typeface="Times New Roman" panose="02020603050405020304" pitchFamily="18" charset="0"/>
                        </a:rPr>
                        <a:t>M. Siino et al., "Exploring LLMs Applications in Law: A Literature Review on Current Legal NLP Approaches“, </a:t>
                      </a:r>
                      <a:r>
                        <a:rPr lang="en-IN" sz="1500" b="1" dirty="0">
                          <a:latin typeface="Times New Roman" panose="02020603050405020304" pitchFamily="18" charset="0"/>
                          <a:cs typeface="Times New Roman" panose="02020603050405020304" pitchFamily="18" charset="0"/>
                        </a:rPr>
                        <a:t>2025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rgbClr val="FCE5DC"/>
                    </a:solidFill>
                  </a:tcPr>
                </a:tc>
                <a:tc>
                  <a:txBody>
                    <a:bodyPr/>
                    <a:lstStyle/>
                    <a:p>
                      <a:pPr marL="285750" indent="-285750">
                        <a:buFont typeface="Arial" panose="020B0604020202020204" pitchFamily="34" charset="0"/>
                        <a:buChar char="•"/>
                      </a:pPr>
                      <a:r>
                        <a:rPr lang="en-IN" sz="1500" dirty="0">
                          <a:latin typeface="Times New Roman" panose="02020603050405020304" pitchFamily="18" charset="0"/>
                          <a:cs typeface="Times New Roman" panose="02020603050405020304" pitchFamily="18" charset="0"/>
                        </a:rPr>
                        <a:t>Systematic Literature Review (SLR),</a:t>
                      </a:r>
                    </a:p>
                    <a:p>
                      <a:pPr marL="285750" indent="-285750">
                        <a:buFont typeface="Arial" panose="020B0604020202020204" pitchFamily="34" charset="0"/>
                        <a:buChar char="•"/>
                      </a:pPr>
                      <a:r>
                        <a:rPr lang="en-IN" sz="1500" dirty="0">
                          <a:latin typeface="Times New Roman" panose="02020603050405020304" pitchFamily="18" charset="0"/>
                          <a:cs typeface="Times New Roman" panose="02020603050405020304" pitchFamily="18" charset="0"/>
                        </a:rPr>
                        <a:t>PRISMA Methodology, </a:t>
                      </a:r>
                    </a:p>
                    <a:p>
                      <a:pPr marL="285750" indent="-285750">
                        <a:buFont typeface="Arial" panose="020B0604020202020204" pitchFamily="34" charset="0"/>
                        <a:buChar char="•"/>
                      </a:pPr>
                      <a:r>
                        <a:rPr lang="en-IN" sz="1500" dirty="0">
                          <a:latin typeface="Times New Roman" panose="02020603050405020304" pitchFamily="18" charset="0"/>
                          <a:cs typeface="Times New Roman" panose="02020603050405020304" pitchFamily="18" charset="0"/>
                        </a:rPr>
                        <a:t>CASP Quality Assessment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rgbClr val="FCE5DC"/>
                    </a:solidFill>
                  </a:tcPr>
                </a:tc>
                <a:tc>
                  <a:txBody>
                    <a:bodyPr/>
                    <a:lstStyle/>
                    <a:p>
                      <a:pPr marL="285750" indent="-285750">
                        <a:buFont typeface="Arial" panose="020B0604020202020204" pitchFamily="34" charset="0"/>
                        <a:buChar char="•"/>
                      </a:pPr>
                      <a:r>
                        <a:rPr lang="en-IN" sz="1500" dirty="0">
                          <a:latin typeface="Times New Roman" panose="02020603050405020304" pitchFamily="18" charset="0"/>
                          <a:cs typeface="Times New Roman" panose="02020603050405020304" pitchFamily="18" charset="0"/>
                        </a:rPr>
                        <a:t>Reviews state-of-the-art LLM applications in Legal NLP; </a:t>
                      </a:r>
                    </a:p>
                    <a:p>
                      <a:pPr marL="285750" indent="-285750">
                        <a:buFont typeface="Arial" panose="020B0604020202020204" pitchFamily="34" charset="0"/>
                        <a:buChar char="•"/>
                      </a:pPr>
                      <a:r>
                        <a:rPr lang="en-IN" sz="1500" dirty="0">
                          <a:latin typeface="Times New Roman" panose="02020603050405020304" pitchFamily="18" charset="0"/>
                          <a:cs typeface="Times New Roman" panose="02020603050405020304" pitchFamily="18" charset="0"/>
                        </a:rPr>
                        <a:t>identifies strengths, limitations, and future research opportunities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rgbClr val="FCE5DC"/>
                    </a:solidFill>
                  </a:tcPr>
                </a:tc>
                <a:tc>
                  <a:txBody>
                    <a:bodyPr/>
                    <a:lstStyle/>
                    <a:p>
                      <a:pPr marL="285750" indent="-285750">
                        <a:buFont typeface="Arial" panose="020B0604020202020204" pitchFamily="34" charset="0"/>
                        <a:buChar char="•"/>
                      </a:pPr>
                      <a:r>
                        <a:rPr lang="en-IN" sz="1500" dirty="0">
                          <a:latin typeface="Times New Roman" panose="02020603050405020304" pitchFamily="18" charset="0"/>
                          <a:cs typeface="Times New Roman" panose="02020603050405020304" pitchFamily="18" charset="0"/>
                        </a:rPr>
                        <a:t>No practical implementation, mainly reviews existing studies,</a:t>
                      </a:r>
                    </a:p>
                    <a:p>
                      <a:pPr marL="285750" indent="-285750">
                        <a:buFont typeface="Arial" panose="020B0604020202020204" pitchFamily="34" charset="0"/>
                        <a:buChar char="•"/>
                      </a:pPr>
                      <a:r>
                        <a:rPr lang="en-IN" sz="1500" b="1" dirty="0">
                          <a:latin typeface="Times New Roman" panose="02020603050405020304" pitchFamily="18" charset="0"/>
                          <a:cs typeface="Times New Roman" panose="02020603050405020304" pitchFamily="18" charset="0"/>
                        </a:rPr>
                        <a:t>multilingual legal AI </a:t>
                      </a:r>
                      <a:r>
                        <a:rPr lang="en-IN" sz="1500" dirty="0">
                          <a:latin typeface="Times New Roman" panose="02020603050405020304" pitchFamily="18" charset="0"/>
                          <a:cs typeface="Times New Roman" panose="02020603050405020304" pitchFamily="18" charset="0"/>
                        </a:rPr>
                        <a:t>remains underexplored</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rgbClr val="FCE5DC"/>
                    </a:solidFill>
                  </a:tcPr>
                </a:tc>
                <a:extLst>
                  <a:ext uri="{0D108BD9-81ED-4DB2-BD59-A6C34878D82A}">
                    <a16:rowId xmlns:a16="http://schemas.microsoft.com/office/drawing/2014/main" val="352738141"/>
                  </a:ext>
                </a:extLst>
              </a:tr>
            </a:tbl>
          </a:graphicData>
        </a:graphic>
      </p:graphicFrame>
    </p:spTree>
    <p:extLst>
      <p:ext uri="{BB962C8B-B14F-4D97-AF65-F5344CB8AC3E}">
        <p14:creationId xmlns:p14="http://schemas.microsoft.com/office/powerpoint/2010/main" val="23733847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6CE63E-C020-9D07-4593-43C78E89E6B4}"/>
            </a:ext>
          </a:extLst>
        </p:cNvPr>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E36FB6B9-E2CF-90AD-21AB-89D6F686A33A}"/>
              </a:ext>
            </a:extLst>
          </p:cNvPr>
          <p:cNvGraphicFramePr>
            <a:graphicFrameLocks noGrp="1"/>
          </p:cNvGraphicFramePr>
          <p:nvPr>
            <p:extLst>
              <p:ext uri="{D42A27DB-BD31-4B8C-83A1-F6EECF244321}">
                <p14:modId xmlns:p14="http://schemas.microsoft.com/office/powerpoint/2010/main" val="1674343687"/>
              </p:ext>
            </p:extLst>
          </p:nvPr>
        </p:nvGraphicFramePr>
        <p:xfrm>
          <a:off x="0" y="0"/>
          <a:ext cx="9144000" cy="5303520"/>
        </p:xfrm>
        <a:graphic>
          <a:graphicData uri="http://schemas.openxmlformats.org/drawingml/2006/table">
            <a:tbl>
              <a:tblPr firstRow="1" bandRow="1">
                <a:tableStyleId>{5C22544A-7EE6-4342-B048-85BDC9FD1C3A}</a:tableStyleId>
              </a:tblPr>
              <a:tblGrid>
                <a:gridCol w="749395">
                  <a:extLst>
                    <a:ext uri="{9D8B030D-6E8A-4147-A177-3AD203B41FA5}">
                      <a16:colId xmlns:a16="http://schemas.microsoft.com/office/drawing/2014/main" val="3586887849"/>
                    </a:ext>
                  </a:extLst>
                </a:gridCol>
                <a:gridCol w="2110312">
                  <a:extLst>
                    <a:ext uri="{9D8B030D-6E8A-4147-A177-3AD203B41FA5}">
                      <a16:colId xmlns:a16="http://schemas.microsoft.com/office/drawing/2014/main" val="1548985067"/>
                    </a:ext>
                  </a:extLst>
                </a:gridCol>
                <a:gridCol w="2244310">
                  <a:extLst>
                    <a:ext uri="{9D8B030D-6E8A-4147-A177-3AD203B41FA5}">
                      <a16:colId xmlns:a16="http://schemas.microsoft.com/office/drawing/2014/main" val="2533120191"/>
                    </a:ext>
                  </a:extLst>
                </a:gridCol>
                <a:gridCol w="2061556">
                  <a:extLst>
                    <a:ext uri="{9D8B030D-6E8A-4147-A177-3AD203B41FA5}">
                      <a16:colId xmlns:a16="http://schemas.microsoft.com/office/drawing/2014/main" val="285886943"/>
                    </a:ext>
                  </a:extLst>
                </a:gridCol>
                <a:gridCol w="1978427">
                  <a:extLst>
                    <a:ext uri="{9D8B030D-6E8A-4147-A177-3AD203B41FA5}">
                      <a16:colId xmlns:a16="http://schemas.microsoft.com/office/drawing/2014/main" val="1917184722"/>
                    </a:ext>
                  </a:extLst>
                </a:gridCol>
              </a:tblGrid>
              <a:tr h="927223">
                <a:tc>
                  <a:txBody>
                    <a:bodyPr/>
                    <a:lstStyle/>
                    <a:p>
                      <a:pPr algn="ctr"/>
                      <a:r>
                        <a:rPr lang="en-US" sz="2000" dirty="0">
                          <a:solidFill>
                            <a:schemeClr val="tx1"/>
                          </a:solidFill>
                          <a:latin typeface="Times New Roman" panose="02020603050405020304" pitchFamily="18" charset="0"/>
                          <a:cs typeface="Times New Roman" panose="02020603050405020304" pitchFamily="18" charset="0"/>
                        </a:rPr>
                        <a:t>Ref. NO</a:t>
                      </a:r>
                      <a:endParaRPr lang="en-IN"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B48F"/>
                    </a:solidFill>
                  </a:tcPr>
                </a:tc>
                <a:tc>
                  <a:txBody>
                    <a:bodyPr/>
                    <a:lstStyle/>
                    <a:p>
                      <a:pPr algn="ctr"/>
                      <a:r>
                        <a:rPr lang="en-US" sz="2000" dirty="0">
                          <a:solidFill>
                            <a:schemeClr val="tx1"/>
                          </a:solidFill>
                          <a:latin typeface="Times New Roman" panose="02020603050405020304" pitchFamily="18" charset="0"/>
                          <a:cs typeface="Times New Roman" panose="02020603050405020304" pitchFamily="18" charset="0"/>
                        </a:rPr>
                        <a:t>PAPER</a:t>
                      </a:r>
                    </a:p>
                    <a:p>
                      <a:pPr algn="ctr"/>
                      <a:r>
                        <a:rPr lang="en-US" sz="2000" dirty="0">
                          <a:solidFill>
                            <a:schemeClr val="tx1"/>
                          </a:solidFill>
                          <a:latin typeface="Times New Roman" panose="02020603050405020304" pitchFamily="18" charset="0"/>
                          <a:cs typeface="Times New Roman" panose="02020603050405020304" pitchFamily="18" charset="0"/>
                        </a:rPr>
                        <a:t> TITLE</a:t>
                      </a:r>
                      <a:endParaRPr lang="en-IN"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B48F"/>
                    </a:solidFill>
                  </a:tcPr>
                </a:tc>
                <a:tc>
                  <a:txBody>
                    <a:bodyPr/>
                    <a:lstStyle/>
                    <a:p>
                      <a:pPr algn="ctr"/>
                      <a:r>
                        <a:rPr lang="en-US" sz="2000" dirty="0">
                          <a:solidFill>
                            <a:schemeClr val="tx1"/>
                          </a:solidFill>
                          <a:latin typeface="Times New Roman" panose="02020603050405020304" pitchFamily="18" charset="0"/>
                          <a:cs typeface="Times New Roman" panose="02020603050405020304" pitchFamily="18" charset="0"/>
                        </a:rPr>
                        <a:t>NAME OF </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2000" dirty="0">
                          <a:solidFill>
                            <a:schemeClr val="tx1"/>
                          </a:solidFill>
                          <a:latin typeface="Times New Roman" panose="02020603050405020304" pitchFamily="18" charset="0"/>
                          <a:cs typeface="Times New Roman" panose="02020603050405020304" pitchFamily="18" charset="0"/>
                        </a:rPr>
                        <a:t>ALGORITHM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B48F"/>
                    </a:solidFill>
                  </a:tcPr>
                </a:tc>
                <a:tc>
                  <a:txBody>
                    <a:bodyPr/>
                    <a:lstStyle/>
                    <a:p>
                      <a:pPr algn="ctr"/>
                      <a:r>
                        <a:rPr lang="en-US" sz="2000" dirty="0">
                          <a:solidFill>
                            <a:schemeClr val="tx1"/>
                          </a:solidFill>
                          <a:latin typeface="Times New Roman" panose="02020603050405020304" pitchFamily="18" charset="0"/>
                          <a:cs typeface="Times New Roman" panose="02020603050405020304" pitchFamily="18" charset="0"/>
                        </a:rPr>
                        <a:t>ADVANTAGES</a:t>
                      </a:r>
                      <a:endParaRPr lang="en-IN"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B48F"/>
                    </a:solidFill>
                  </a:tcPr>
                </a:tc>
                <a:tc>
                  <a:txBody>
                    <a:bodyPr/>
                    <a:lstStyle/>
                    <a:p>
                      <a:pPr algn="ctr"/>
                      <a:r>
                        <a:rPr lang="en-US" sz="2000" dirty="0">
                          <a:solidFill>
                            <a:schemeClr val="tx1"/>
                          </a:solidFill>
                          <a:latin typeface="Times New Roman" panose="02020603050405020304" pitchFamily="18" charset="0"/>
                          <a:cs typeface="Times New Roman" panose="02020603050405020304" pitchFamily="18" charset="0"/>
                        </a:rPr>
                        <a:t>DIS –</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2000" dirty="0">
                          <a:solidFill>
                            <a:schemeClr val="tx1"/>
                          </a:solidFill>
                          <a:latin typeface="Times New Roman" panose="02020603050405020304" pitchFamily="18" charset="0"/>
                          <a:cs typeface="Times New Roman" panose="02020603050405020304" pitchFamily="18" charset="0"/>
                        </a:rPr>
                        <a:t>ADVANTAGES</a:t>
                      </a:r>
                      <a:endParaRPr lang="en-IN" sz="2000" dirty="0">
                        <a:solidFill>
                          <a:schemeClr val="tx1"/>
                        </a:solidFill>
                        <a:latin typeface="Times New Roman" panose="02020603050405020304" pitchFamily="18" charset="0"/>
                        <a:cs typeface="Times New Roman" panose="02020603050405020304" pitchFamily="18" charset="0"/>
                      </a:endParaRPr>
                    </a:p>
                    <a:p>
                      <a:pPr algn="ctr"/>
                      <a:endParaRPr lang="en-US"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B48F"/>
                    </a:solidFill>
                  </a:tcPr>
                </a:tc>
                <a:extLst>
                  <a:ext uri="{0D108BD9-81ED-4DB2-BD59-A6C34878D82A}">
                    <a16:rowId xmlns:a16="http://schemas.microsoft.com/office/drawing/2014/main" val="2572685241"/>
                  </a:ext>
                </a:extLst>
              </a:tr>
              <a:tr h="1980885">
                <a:tc>
                  <a:txBody>
                    <a:bodyPr/>
                    <a:lstStyle/>
                    <a:p>
                      <a:pPr algn="ctr"/>
                      <a:endParaRPr lang="en-US" sz="2800" dirty="0">
                        <a:latin typeface="Times New Roman" panose="02020603050405020304" pitchFamily="18" charset="0"/>
                        <a:cs typeface="Times New Roman" panose="02020603050405020304" pitchFamily="18" charset="0"/>
                      </a:endParaRPr>
                    </a:p>
                    <a:p>
                      <a:pPr algn="ctr"/>
                      <a:r>
                        <a:rPr lang="en-US" sz="2800" dirty="0">
                          <a:latin typeface="Times New Roman" panose="02020603050405020304" pitchFamily="18" charset="0"/>
                          <a:cs typeface="Times New Roman" panose="02020603050405020304" pitchFamily="18" charset="0"/>
                        </a:rPr>
                        <a:t>5</a:t>
                      </a:r>
                      <a:endParaRPr lang="en-IN" sz="2800" dirty="0">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AC0B0"/>
                    </a:solidFill>
                  </a:tcPr>
                </a:tc>
                <a:tc>
                  <a:txBody>
                    <a:bodyPr/>
                    <a:lstStyle/>
                    <a:p>
                      <a:pPr algn="ctr"/>
                      <a:r>
                        <a:rPr lang="en-IN" sz="1500" dirty="0">
                          <a:latin typeface="Times New Roman" panose="02020603050405020304" pitchFamily="18" charset="0"/>
                          <a:cs typeface="Times New Roman" panose="02020603050405020304" pitchFamily="18" charset="0"/>
                        </a:rPr>
                        <a:t>F. </a:t>
                      </a:r>
                      <a:r>
                        <a:rPr lang="en-IN" sz="1500" dirty="0" err="1">
                          <a:latin typeface="Times New Roman" panose="02020603050405020304" pitchFamily="18" charset="0"/>
                          <a:cs typeface="Times New Roman" panose="02020603050405020304" pitchFamily="18" charset="0"/>
                        </a:rPr>
                        <a:t>Almutairy</a:t>
                      </a:r>
                      <a:r>
                        <a:rPr lang="en-IN" sz="1500" dirty="0">
                          <a:latin typeface="Times New Roman" panose="02020603050405020304" pitchFamily="18" charset="0"/>
                          <a:cs typeface="Times New Roman" panose="02020603050405020304" pitchFamily="18" charset="0"/>
                        </a:rPr>
                        <a:t> et al., "</a:t>
                      </a:r>
                      <a:r>
                        <a:rPr lang="en-IN" sz="1500" dirty="0" err="1">
                          <a:latin typeface="Times New Roman" panose="02020603050405020304" pitchFamily="18" charset="0"/>
                          <a:cs typeface="Times New Roman" panose="02020603050405020304" pitchFamily="18" charset="0"/>
                        </a:rPr>
                        <a:t>SmartLaw</a:t>
                      </a:r>
                      <a:r>
                        <a:rPr lang="en-IN" sz="1500" dirty="0">
                          <a:latin typeface="Times New Roman" panose="02020603050405020304" pitchFamily="18" charset="0"/>
                          <a:cs typeface="Times New Roman" panose="02020603050405020304" pitchFamily="18" charset="0"/>
                        </a:rPr>
                        <a:t> Advisor: AI-Powered Legal Consultation and Contract Analysis for Saudi Arabia" , </a:t>
                      </a:r>
                      <a:r>
                        <a:rPr lang="en-IN" sz="1500" b="1" dirty="0">
                          <a:latin typeface="Times New Roman" panose="02020603050405020304" pitchFamily="18" charset="0"/>
                          <a:cs typeface="Times New Roman" panose="02020603050405020304" pitchFamily="18" charset="0"/>
                        </a:rPr>
                        <a:t>2026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AC0B0"/>
                    </a:solidFill>
                  </a:tcPr>
                </a:tc>
                <a:tc>
                  <a:txBody>
                    <a:bodyPr/>
                    <a:lstStyle/>
                    <a:p>
                      <a:pPr marL="285750" indent="-285750">
                        <a:buFont typeface="Arial" panose="020B0604020202020204" pitchFamily="34" charset="0"/>
                        <a:buChar char="•"/>
                      </a:pPr>
                      <a:r>
                        <a:rPr lang="en-IN" sz="1500" dirty="0">
                          <a:latin typeface="Times New Roman" panose="02020603050405020304" pitchFamily="18" charset="0"/>
                          <a:cs typeface="Times New Roman" panose="02020603050405020304" pitchFamily="18" charset="0"/>
                        </a:rPr>
                        <a:t>Retrieval-Augmented Generation (RAG),</a:t>
                      </a:r>
                    </a:p>
                    <a:p>
                      <a:pPr marL="285750" indent="-285750">
                        <a:buFont typeface="Arial" panose="020B0604020202020204" pitchFamily="34" charset="0"/>
                        <a:buChar char="•"/>
                      </a:pPr>
                      <a:r>
                        <a:rPr lang="en-IN" sz="1500" dirty="0">
                          <a:latin typeface="Times New Roman" panose="02020603050405020304" pitchFamily="18" charset="0"/>
                          <a:cs typeface="Times New Roman" panose="02020603050405020304" pitchFamily="18" charset="0"/>
                        </a:rPr>
                        <a:t>Google Gemini 1.5 Flash,</a:t>
                      </a:r>
                    </a:p>
                    <a:p>
                      <a:pPr marL="285750" indent="-285750">
                        <a:buFont typeface="Arial" panose="020B0604020202020204" pitchFamily="34" charset="0"/>
                        <a:buChar char="•"/>
                      </a:pPr>
                      <a:r>
                        <a:rPr lang="en-IN" sz="1500" dirty="0" err="1">
                          <a:latin typeface="Times New Roman" panose="02020603050405020304" pitchFamily="18" charset="0"/>
                          <a:cs typeface="Times New Roman" panose="02020603050405020304" pitchFamily="18" charset="0"/>
                        </a:rPr>
                        <a:t>ChromaDB</a:t>
                      </a:r>
                      <a:r>
                        <a:rPr lang="en-IN" sz="1500" dirty="0">
                          <a:latin typeface="Times New Roman" panose="02020603050405020304" pitchFamily="18" charset="0"/>
                          <a:cs typeface="Times New Roman" panose="02020603050405020304" pitchFamily="18" charset="0"/>
                        </a:rPr>
                        <a:t>, OCR,</a:t>
                      </a:r>
                    </a:p>
                    <a:p>
                      <a:pPr marL="285750" indent="-285750">
                        <a:buFont typeface="Arial" panose="020B0604020202020204" pitchFamily="34" charset="0"/>
                        <a:buChar char="•"/>
                      </a:pPr>
                      <a:r>
                        <a:rPr lang="en-IN" sz="1500" dirty="0">
                          <a:latin typeface="Times New Roman" panose="02020603050405020304" pitchFamily="18" charset="0"/>
                          <a:cs typeface="Times New Roman" panose="02020603050405020304" pitchFamily="18" charset="0"/>
                        </a:rPr>
                        <a:t>Semantic Retrieval,</a:t>
                      </a:r>
                    </a:p>
                    <a:p>
                      <a:pPr marL="285750" indent="-285750">
                        <a:buFont typeface="Arial" panose="020B0604020202020204" pitchFamily="34" charset="0"/>
                        <a:buChar char="•"/>
                      </a:pPr>
                      <a:r>
                        <a:rPr lang="en-IN" sz="1500" dirty="0">
                          <a:latin typeface="Times New Roman" panose="02020603050405020304" pitchFamily="18" charset="0"/>
                          <a:cs typeface="Times New Roman" panose="02020603050405020304" pitchFamily="18" charset="0"/>
                        </a:rPr>
                        <a:t>Prompt Engineering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AC0B0"/>
                    </a:solidFill>
                  </a:tcPr>
                </a:tc>
                <a:tc>
                  <a:txBody>
                    <a:bodyPr/>
                    <a:lstStyle/>
                    <a:p>
                      <a:pPr marL="285750" indent="-285750">
                        <a:buFont typeface="Arial" panose="020B0604020202020204" pitchFamily="34" charset="0"/>
                        <a:buChar char="•"/>
                      </a:pPr>
                      <a:r>
                        <a:rPr lang="en-IN" sz="1500" dirty="0">
                          <a:latin typeface="Times New Roman" panose="02020603050405020304" pitchFamily="18" charset="0"/>
                          <a:cs typeface="Times New Roman" panose="02020603050405020304" pitchFamily="18" charset="0"/>
                        </a:rPr>
                        <a:t>Accurate legal consultation, contract analysis, retrieval-grounded responses, </a:t>
                      </a:r>
                    </a:p>
                    <a:p>
                      <a:pPr marL="285750" indent="-285750">
                        <a:buFont typeface="Arial" panose="020B0604020202020204" pitchFamily="34" charset="0"/>
                        <a:buChar char="•"/>
                      </a:pPr>
                      <a:r>
                        <a:rPr lang="en-IN" sz="1500" dirty="0">
                          <a:latin typeface="Times New Roman" panose="02020603050405020304" pitchFamily="18" charset="0"/>
                          <a:cs typeface="Times New Roman" panose="02020603050405020304" pitchFamily="18" charset="0"/>
                        </a:rPr>
                        <a:t>Reduces hallucinations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AC0B0"/>
                    </a:solidFill>
                  </a:tcPr>
                </a:tc>
                <a:tc>
                  <a:txBody>
                    <a:bodyPr/>
                    <a:lstStyle/>
                    <a:p>
                      <a:pPr marL="285750" indent="-285750">
                        <a:buFont typeface="Arial" panose="020B0604020202020204" pitchFamily="34" charset="0"/>
                        <a:buChar char="•"/>
                      </a:pPr>
                      <a:r>
                        <a:rPr lang="en-IN" sz="1500" dirty="0">
                          <a:latin typeface="Times New Roman" panose="02020603050405020304" pitchFamily="18" charset="0"/>
                          <a:cs typeface="Times New Roman" panose="02020603050405020304" pitchFamily="18" charset="0"/>
                        </a:rPr>
                        <a:t>Designed for </a:t>
                      </a:r>
                      <a:r>
                        <a:rPr lang="en-IN" sz="1500" b="1" dirty="0">
                          <a:latin typeface="Times New Roman" panose="02020603050405020304" pitchFamily="18" charset="0"/>
                          <a:cs typeface="Times New Roman" panose="02020603050405020304" pitchFamily="18" charset="0"/>
                        </a:rPr>
                        <a:t>Saudi legal system</a:t>
                      </a:r>
                      <a:r>
                        <a:rPr lang="en-IN" sz="1500" dirty="0">
                          <a:latin typeface="Times New Roman" panose="02020603050405020304" pitchFamily="18" charset="0"/>
                          <a:cs typeface="Times New Roman" panose="02020603050405020304" pitchFamily="18" charset="0"/>
                        </a:rPr>
                        <a:t>, limited evaluation dataset, does not support</a:t>
                      </a:r>
                    </a:p>
                    <a:p>
                      <a:pPr marL="285750" indent="-285750">
                        <a:buFont typeface="Arial" panose="020B0604020202020204" pitchFamily="34" charset="0"/>
                        <a:buChar char="•"/>
                      </a:pPr>
                      <a:r>
                        <a:rPr lang="en-IN" sz="1500" b="1" dirty="0">
                          <a:latin typeface="Times New Roman" panose="02020603050405020304" pitchFamily="18" charset="0"/>
                          <a:cs typeface="Times New Roman" panose="02020603050405020304" pitchFamily="18" charset="0"/>
                        </a:rPr>
                        <a:t>multilingual Indian </a:t>
                      </a:r>
                      <a:r>
                        <a:rPr lang="en-IN" sz="1500" b="0" dirty="0">
                          <a:latin typeface="Times New Roman" panose="02020603050405020304" pitchFamily="18" charset="0"/>
                          <a:cs typeface="Times New Roman" panose="02020603050405020304" pitchFamily="18" charset="0"/>
                        </a:rPr>
                        <a:t>legal document intelligence</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AC0B0"/>
                    </a:solidFill>
                  </a:tcPr>
                </a:tc>
                <a:extLst>
                  <a:ext uri="{0D108BD9-81ED-4DB2-BD59-A6C34878D82A}">
                    <a16:rowId xmlns:a16="http://schemas.microsoft.com/office/drawing/2014/main" val="2348311593"/>
                  </a:ext>
                </a:extLst>
              </a:tr>
              <a:tr h="1980885">
                <a:tc>
                  <a:txBody>
                    <a:bodyPr/>
                    <a:lstStyle/>
                    <a:p>
                      <a:pPr algn="ctr"/>
                      <a:endParaRPr lang="en-US" sz="2800" dirty="0">
                        <a:latin typeface="Times New Roman" panose="02020603050405020304" pitchFamily="18" charset="0"/>
                        <a:cs typeface="Times New Roman" panose="02020603050405020304" pitchFamily="18" charset="0"/>
                      </a:endParaRPr>
                    </a:p>
                    <a:p>
                      <a:pPr algn="ctr"/>
                      <a:r>
                        <a:rPr lang="en-IN" sz="2800" dirty="0">
                          <a:latin typeface="Times New Roman" panose="02020603050405020304" pitchFamily="18" charset="0"/>
                          <a:cs typeface="Times New Roman" panose="02020603050405020304" pitchFamily="18" charset="0"/>
                        </a:rPr>
                        <a:t>6</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rgbClr val="FCE5DC"/>
                    </a:solidFill>
                  </a:tcPr>
                </a:tc>
                <a:tc>
                  <a:txBody>
                    <a:bodyPr/>
                    <a:lstStyle/>
                    <a:p>
                      <a:pPr algn="ctr"/>
                      <a:r>
                        <a:rPr lang="en-IN" sz="1500" dirty="0">
                          <a:latin typeface="Times New Roman" panose="02020603050405020304" pitchFamily="18" charset="0"/>
                          <a:cs typeface="Times New Roman" panose="02020603050405020304" pitchFamily="18" charset="0"/>
                        </a:rPr>
                        <a:t>M. M. Alsharif </a:t>
                      </a:r>
                      <a:r>
                        <a:rPr lang="en-IN" sz="1500" i="1" dirty="0">
                          <a:latin typeface="Times New Roman" panose="02020603050405020304" pitchFamily="18" charset="0"/>
                          <a:cs typeface="Times New Roman" panose="02020603050405020304" pitchFamily="18" charset="0"/>
                        </a:rPr>
                        <a:t>et al</a:t>
                      </a:r>
                      <a:r>
                        <a:rPr lang="en-IN" sz="1500" dirty="0">
                          <a:latin typeface="Times New Roman" panose="02020603050405020304" pitchFamily="18" charset="0"/>
                          <a:cs typeface="Times New Roman" panose="02020603050405020304" pitchFamily="18" charset="0"/>
                        </a:rPr>
                        <a:t>., "</a:t>
                      </a:r>
                      <a:r>
                        <a:rPr lang="en-IN" sz="1500" dirty="0" err="1">
                          <a:latin typeface="Times New Roman" panose="02020603050405020304" pitchFamily="18" charset="0"/>
                          <a:cs typeface="Times New Roman" panose="02020603050405020304" pitchFamily="18" charset="0"/>
                        </a:rPr>
                        <a:t>CHRExpert</a:t>
                      </a:r>
                      <a:r>
                        <a:rPr lang="en-IN" sz="1500" dirty="0">
                          <a:latin typeface="Times New Roman" panose="02020603050405020304" pitchFamily="18" charset="0"/>
                          <a:cs typeface="Times New Roman" panose="02020603050405020304" pitchFamily="18" charset="0"/>
                        </a:rPr>
                        <a:t>: An AI-Driven Court of Human Rights Expert Assistant for Legal Practitioners Utilizing Transformer Models," </a:t>
                      </a:r>
                      <a:r>
                        <a:rPr lang="en-IN" sz="1500" b="1" dirty="0">
                          <a:latin typeface="Times New Roman" panose="02020603050405020304" pitchFamily="18" charset="0"/>
                          <a:cs typeface="Times New Roman" panose="02020603050405020304" pitchFamily="18" charset="0"/>
                        </a:rPr>
                        <a:t>2024.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rgbClr val="FCE5DC"/>
                    </a:solidFill>
                  </a:tcPr>
                </a:tc>
                <a:tc>
                  <a:txBody>
                    <a:bodyPr/>
                    <a:lstStyle/>
                    <a:p>
                      <a:pPr marL="285750" indent="-285750">
                        <a:buFont typeface="Arial" panose="020B0604020202020204" pitchFamily="34" charset="0"/>
                        <a:buChar char="•"/>
                      </a:pPr>
                      <a:r>
                        <a:rPr lang="en-IN" sz="1500" dirty="0">
                          <a:latin typeface="Times New Roman" panose="02020603050405020304" pitchFamily="18" charset="0"/>
                          <a:cs typeface="Times New Roman" panose="02020603050405020304" pitchFamily="18" charset="0"/>
                        </a:rPr>
                        <a:t>GPT-J Transformer, Transfer Learning, NLP, </a:t>
                      </a:r>
                    </a:p>
                    <a:p>
                      <a:pPr marL="285750" indent="-285750">
                        <a:buFont typeface="Arial" panose="020B0604020202020204" pitchFamily="34" charset="0"/>
                        <a:buChar char="•"/>
                      </a:pPr>
                      <a:r>
                        <a:rPr lang="en-IN" sz="1500" dirty="0">
                          <a:latin typeface="Times New Roman" panose="02020603050405020304" pitchFamily="18" charset="0"/>
                          <a:cs typeface="Times New Roman" panose="02020603050405020304" pitchFamily="18" charset="0"/>
                        </a:rPr>
                        <a:t>Byte Pair Encoding (BPE), </a:t>
                      </a:r>
                    </a:p>
                    <a:p>
                      <a:pPr marL="285750" indent="-285750">
                        <a:buFont typeface="Arial" panose="020B0604020202020204" pitchFamily="34" charset="0"/>
                        <a:buChar char="•"/>
                      </a:pPr>
                      <a:r>
                        <a:rPr lang="en-IN" sz="1500" dirty="0">
                          <a:latin typeface="Times New Roman" panose="02020603050405020304" pitchFamily="18" charset="0"/>
                          <a:cs typeface="Times New Roman" panose="02020603050405020304" pitchFamily="18" charset="0"/>
                        </a:rPr>
                        <a:t>Multi-Head Attention,</a:t>
                      </a:r>
                    </a:p>
                    <a:p>
                      <a:pPr marL="285750" indent="-285750">
                        <a:buFont typeface="Arial" panose="020B0604020202020204" pitchFamily="34" charset="0"/>
                        <a:buChar char="•"/>
                      </a:pPr>
                      <a:r>
                        <a:rPr lang="en-IN" sz="1500" dirty="0" err="1">
                          <a:latin typeface="Times New Roman" panose="02020603050405020304" pitchFamily="18" charset="0"/>
                          <a:cs typeface="Times New Roman" panose="02020603050405020304" pitchFamily="18" charset="0"/>
                        </a:rPr>
                        <a:t>PyTorch</a:t>
                      </a:r>
                      <a:r>
                        <a:rPr lang="en-IN" sz="1500" dirty="0">
                          <a:latin typeface="Times New Roman" panose="02020603050405020304" pitchFamily="18" charset="0"/>
                          <a:cs typeface="Times New Roman" panose="02020603050405020304" pitchFamily="18" charset="0"/>
                        </a:rPr>
                        <a:t> DDP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rgbClr val="FCE5DC"/>
                    </a:solidFill>
                  </a:tcPr>
                </a:tc>
                <a:tc>
                  <a:txBody>
                    <a:bodyPr/>
                    <a:lstStyle/>
                    <a:p>
                      <a:pPr marL="285750" indent="-285750">
                        <a:buFont typeface="Arial" panose="020B0604020202020204" pitchFamily="34" charset="0"/>
                        <a:buChar char="•"/>
                      </a:pPr>
                      <a:r>
                        <a:rPr lang="en-IN" sz="1500" dirty="0">
                          <a:latin typeface="Times New Roman" panose="02020603050405020304" pitchFamily="18" charset="0"/>
                          <a:cs typeface="Times New Roman" panose="02020603050405020304" pitchFamily="18" charset="0"/>
                        </a:rPr>
                        <a:t>Automates legal document analysis,</a:t>
                      </a:r>
                    </a:p>
                    <a:p>
                      <a:pPr marL="285750" indent="-285750">
                        <a:buFont typeface="Arial" panose="020B0604020202020204" pitchFamily="34" charset="0"/>
                        <a:buChar char="•"/>
                      </a:pPr>
                      <a:r>
                        <a:rPr lang="en-IN" sz="1500" dirty="0">
                          <a:latin typeface="Times New Roman" panose="02020603050405020304" pitchFamily="18" charset="0"/>
                          <a:cs typeface="Times New Roman" panose="02020603050405020304" pitchFamily="18" charset="0"/>
                        </a:rPr>
                        <a:t>legal issue identification, precedent comparison,</a:t>
                      </a:r>
                    </a:p>
                    <a:p>
                      <a:pPr marL="285750" indent="-285750">
                        <a:buFont typeface="Arial" panose="020B0604020202020204" pitchFamily="34" charset="0"/>
                        <a:buChar char="•"/>
                      </a:pPr>
                      <a:r>
                        <a:rPr lang="en-IN" sz="1500" dirty="0">
                          <a:latin typeface="Times New Roman" panose="02020603050405020304" pitchFamily="18" charset="0"/>
                          <a:cs typeface="Times New Roman" panose="02020603050405020304" pitchFamily="18" charset="0"/>
                        </a:rPr>
                        <a:t>judicial outcome prediction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rgbClr val="FCE5DC"/>
                    </a:solidFill>
                  </a:tcPr>
                </a:tc>
                <a:tc>
                  <a:txBody>
                    <a:bodyPr/>
                    <a:lstStyle/>
                    <a:p>
                      <a:pPr marL="285750" indent="-285750">
                        <a:buFont typeface="Arial" panose="020B0604020202020204" pitchFamily="34" charset="0"/>
                        <a:buChar char="•"/>
                      </a:pPr>
                      <a:r>
                        <a:rPr lang="en-IN" sz="1500" dirty="0">
                          <a:latin typeface="Times New Roman" panose="02020603050405020304" pitchFamily="18" charset="0"/>
                          <a:cs typeface="Times New Roman" panose="02020603050405020304" pitchFamily="18" charset="0"/>
                        </a:rPr>
                        <a:t>Restricted to ECHR human rights cases;</a:t>
                      </a:r>
                    </a:p>
                    <a:p>
                      <a:pPr marL="285750" indent="-285750">
                        <a:buFont typeface="Arial" panose="020B0604020202020204" pitchFamily="34" charset="0"/>
                        <a:buChar char="•"/>
                      </a:pPr>
                      <a:r>
                        <a:rPr lang="en-IN" sz="1500" b="1" dirty="0">
                          <a:latin typeface="Times New Roman" panose="02020603050405020304" pitchFamily="18" charset="0"/>
                          <a:cs typeface="Times New Roman" panose="02020603050405020304" pitchFamily="18" charset="0"/>
                        </a:rPr>
                        <a:t>no multilingual </a:t>
                      </a:r>
                      <a:r>
                        <a:rPr lang="en-IN" sz="1500" dirty="0">
                          <a:latin typeface="Times New Roman" panose="02020603050405020304" pitchFamily="18" charset="0"/>
                          <a:cs typeface="Times New Roman" panose="02020603050405020304" pitchFamily="18" charset="0"/>
                        </a:rPr>
                        <a:t>Indian support; </a:t>
                      </a:r>
                    </a:p>
                    <a:p>
                      <a:pPr marL="285750" indent="-285750">
                        <a:buFont typeface="Arial" panose="020B0604020202020204" pitchFamily="34" charset="0"/>
                        <a:buChar char="•"/>
                      </a:pPr>
                      <a:r>
                        <a:rPr lang="en-IN" sz="1500" dirty="0">
                          <a:latin typeface="Times New Roman" panose="02020603050405020304" pitchFamily="18" charset="0"/>
                          <a:cs typeface="Times New Roman" panose="02020603050405020304" pitchFamily="18" charset="0"/>
                        </a:rPr>
                        <a:t>lacks integrated </a:t>
                      </a:r>
                      <a:r>
                        <a:rPr lang="en-IN" sz="1500" b="1" dirty="0">
                          <a:latin typeface="Times New Roman" panose="02020603050405020304" pitchFamily="18" charset="0"/>
                          <a:cs typeface="Times New Roman" panose="02020603050405020304" pitchFamily="18" charset="0"/>
                        </a:rPr>
                        <a:t>summarization </a:t>
                      </a:r>
                      <a:r>
                        <a:rPr lang="en-IN" sz="1500" b="0" dirty="0">
                          <a:latin typeface="Times New Roman" panose="02020603050405020304" pitchFamily="18" charset="0"/>
                          <a:cs typeface="Times New Roman" panose="02020603050405020304" pitchFamily="18" charset="0"/>
                        </a:rPr>
                        <a:t>and</a:t>
                      </a:r>
                      <a:r>
                        <a:rPr lang="en-IN" sz="1500" b="1" dirty="0">
                          <a:latin typeface="Times New Roman" panose="02020603050405020304" pitchFamily="18" charset="0"/>
                          <a:cs typeface="Times New Roman" panose="02020603050405020304" pitchFamily="18" charset="0"/>
                        </a:rPr>
                        <a:t> semantic retrieval</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rgbClr val="FCE5DC"/>
                    </a:solidFill>
                  </a:tcPr>
                </a:tc>
                <a:extLst>
                  <a:ext uri="{0D108BD9-81ED-4DB2-BD59-A6C34878D82A}">
                    <a16:rowId xmlns:a16="http://schemas.microsoft.com/office/drawing/2014/main" val="352738141"/>
                  </a:ext>
                </a:extLst>
              </a:tr>
            </a:tbl>
          </a:graphicData>
        </a:graphic>
      </p:graphicFrame>
    </p:spTree>
    <p:extLst>
      <p:ext uri="{BB962C8B-B14F-4D97-AF65-F5344CB8AC3E}">
        <p14:creationId xmlns:p14="http://schemas.microsoft.com/office/powerpoint/2010/main" val="10130539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3">
            <a:extLst>
              <a:ext uri="{FF2B5EF4-FFF2-40B4-BE49-F238E27FC236}">
                <a16:creationId xmlns:a16="http://schemas.microsoft.com/office/drawing/2014/main" id="{E64802AE-54E8-10A2-06B3-4383D0EBD104}"/>
              </a:ext>
            </a:extLst>
          </p:cNvPr>
          <p:cNvSpPr txBox="1">
            <a:spLocks/>
          </p:cNvSpPr>
          <p:nvPr/>
        </p:nvSpPr>
        <p:spPr>
          <a:xfrm>
            <a:off x="628650" y="273844"/>
            <a:ext cx="7886700" cy="766231"/>
          </a:xfrm>
          <a:prstGeom prst="rect">
            <a:avLst/>
          </a:prstGeom>
          <a:solidFill>
            <a:srgbClr val="CC3300"/>
          </a:solidFill>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3600" b="1" dirty="0">
                <a:latin typeface="Times New Roman" panose="02020603050405020304" pitchFamily="18" charset="0"/>
                <a:cs typeface="Times New Roman" panose="02020603050405020304" pitchFamily="18" charset="0"/>
              </a:rPr>
              <a:t>Problem Statement </a:t>
            </a:r>
            <a:endParaRPr lang="en-IN" sz="3600" b="1"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B545B8E8-6F69-027D-538F-017FB4450B0E}"/>
              </a:ext>
            </a:extLst>
          </p:cNvPr>
          <p:cNvSpPr txBox="1"/>
          <p:nvPr/>
        </p:nvSpPr>
        <p:spPr>
          <a:xfrm>
            <a:off x="533257" y="1488157"/>
            <a:ext cx="7982093" cy="3138039"/>
          </a:xfrm>
          <a:prstGeom prst="rect">
            <a:avLst/>
          </a:prstGeom>
          <a:noFill/>
        </p:spPr>
        <p:txBody>
          <a:bodyPr wrap="square" rtlCol="0">
            <a:spAutoFit/>
          </a:bodyPr>
          <a:lstStyle/>
          <a:p>
            <a:pPr marL="0" indent="0" algn="just">
              <a:lnSpc>
                <a:spcPct val="160000"/>
              </a:lnSpc>
              <a:buNone/>
            </a:pPr>
            <a:r>
              <a:rPr lang="en-US" sz="1800" dirty="0">
                <a:latin typeface="Times New Roman" panose="02020603050405020304" pitchFamily="18" charset="0"/>
                <a:cs typeface="Times New Roman" panose="02020603050405020304" pitchFamily="18" charset="0"/>
              </a:rPr>
              <a:t>India's legal system faces a significant backlog of over 5 crore pending cases. A major contributor is the manual effort required to process complex, voluminous legal documents in multiple languages. Currently, no scalable AI platform exists that can classify and summarize legal documents in a multilingual Indian context. There is an urgent need for a </a:t>
            </a:r>
            <a:r>
              <a:rPr lang="en-US" sz="1800" b="1" dirty="0">
                <a:latin typeface="Times New Roman" panose="02020603050405020304" pitchFamily="18" charset="0"/>
                <a:cs typeface="Times New Roman" panose="02020603050405020304" pitchFamily="18" charset="0"/>
              </a:rPr>
              <a:t>domain-specific, AI-enabled legal document intelligence platform that can automate classification, summarization, and facilitate efficient information retrieval from legal documents.</a:t>
            </a:r>
            <a:endParaRPr lang="en-IN" sz="1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037099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C681AC8-5AD4-54D3-1FA6-9EB301D8673C}"/>
              </a:ext>
            </a:extLst>
          </p:cNvPr>
          <p:cNvSpPr>
            <a:spLocks noGrp="1"/>
          </p:cNvSpPr>
          <p:nvPr>
            <p:ph type="title"/>
          </p:nvPr>
        </p:nvSpPr>
        <p:spPr>
          <a:xfrm>
            <a:off x="628650" y="273844"/>
            <a:ext cx="7886700" cy="766231"/>
          </a:xfrm>
          <a:solidFill>
            <a:srgbClr val="CC3300"/>
          </a:solidFill>
        </p:spPr>
        <p:txBody>
          <a:bodyPr>
            <a:normAutofit/>
          </a:bodyPr>
          <a:lstStyle/>
          <a:p>
            <a:pPr algn="ctr"/>
            <a:r>
              <a:rPr lang="en-US" sz="3600" b="1" dirty="0">
                <a:latin typeface="Times New Roman" panose="02020603050405020304" pitchFamily="18" charset="0"/>
                <a:cs typeface="Times New Roman" panose="02020603050405020304" pitchFamily="18" charset="0"/>
              </a:rPr>
              <a:t>Problem Statement </a:t>
            </a:r>
            <a:endParaRPr lang="en-IN" sz="3600" b="1" dirty="0">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FC4DBDC8-7262-E584-3284-0FDF4148B765}"/>
              </a:ext>
            </a:extLst>
          </p:cNvPr>
          <p:cNvSpPr>
            <a:spLocks noGrp="1"/>
          </p:cNvSpPr>
          <p:nvPr>
            <p:ph idx="1"/>
          </p:nvPr>
        </p:nvSpPr>
        <p:spPr/>
        <p:txBody>
          <a:bodyPr>
            <a:normAutofit/>
          </a:bodyPr>
          <a:lstStyle/>
          <a:p>
            <a:pPr marL="0" indent="0">
              <a:buNone/>
            </a:pPr>
            <a:endParaRPr lang="en-IN" sz="2400"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4AF3CA95-10F0-A35B-B8AE-C9B8837C4BEE}"/>
              </a:ext>
            </a:extLst>
          </p:cNvPr>
          <p:cNvPicPr>
            <a:picLocks noChangeAspect="1"/>
          </p:cNvPicPr>
          <p:nvPr/>
        </p:nvPicPr>
        <p:blipFill>
          <a:blip r:embed="rId2"/>
          <a:srcRect l="1727" t="14903" r="-1727" b="3221"/>
          <a:stretch>
            <a:fillRect/>
          </a:stretch>
        </p:blipFill>
        <p:spPr>
          <a:xfrm>
            <a:off x="440012" y="1130904"/>
            <a:ext cx="8520601" cy="3592648"/>
          </a:xfrm>
          <a:prstGeom prst="rect">
            <a:avLst/>
          </a:prstGeom>
        </p:spPr>
      </p:pic>
    </p:spTree>
    <p:extLst>
      <p:ext uri="{BB962C8B-B14F-4D97-AF65-F5344CB8AC3E}">
        <p14:creationId xmlns:p14="http://schemas.microsoft.com/office/powerpoint/2010/main" val="25554524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B1106F-955A-CB66-EB66-99EDCA9E64AA}"/>
              </a:ext>
            </a:extLst>
          </p:cNvPr>
          <p:cNvSpPr>
            <a:spLocks noGrp="1"/>
          </p:cNvSpPr>
          <p:nvPr>
            <p:ph type="title"/>
          </p:nvPr>
        </p:nvSpPr>
        <p:spPr>
          <a:xfrm>
            <a:off x="655700" y="199505"/>
            <a:ext cx="7913716" cy="955964"/>
          </a:xfrm>
          <a:solidFill>
            <a:srgbClr val="CC3300"/>
          </a:solidFill>
        </p:spPr>
        <p:txBody>
          <a:bodyPr>
            <a:normAutofit fontScale="90000"/>
          </a:bodyPr>
          <a:lstStyle/>
          <a:p>
            <a:pPr algn="ctr">
              <a:lnSpc>
                <a:spcPct val="150000"/>
              </a:lnSpc>
            </a:pPr>
            <a:r>
              <a:rPr lang="en-IN" sz="4000" b="1" dirty="0">
                <a:latin typeface="Times New Roman" panose="02020603050405020304" pitchFamily="18" charset="0"/>
                <a:cs typeface="Times New Roman" panose="02020603050405020304" pitchFamily="18" charset="0"/>
              </a:rPr>
              <a:t>AIM &amp; OBJECTIVE</a:t>
            </a:r>
            <a:br>
              <a:rPr lang="en-IN" dirty="0"/>
            </a:b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BEBFA90-25CB-F2F7-A6AD-81C30F97C996}"/>
              </a:ext>
            </a:extLst>
          </p:cNvPr>
          <p:cNvSpPr>
            <a:spLocks noGrp="1"/>
          </p:cNvSpPr>
          <p:nvPr>
            <p:ph idx="1"/>
          </p:nvPr>
        </p:nvSpPr>
        <p:spPr>
          <a:xfrm>
            <a:off x="376083" y="1240272"/>
            <a:ext cx="8472949" cy="3903228"/>
          </a:xfrm>
        </p:spPr>
        <p:txBody>
          <a:bodyPr>
            <a:normAutofit/>
          </a:bodyPr>
          <a:lstStyle/>
          <a:p>
            <a:pPr marL="0" indent="0">
              <a:lnSpc>
                <a:spcPct val="150000"/>
              </a:lnSpc>
              <a:buNone/>
            </a:pPr>
            <a:r>
              <a:rPr lang="en-IN" sz="1900" dirty="0">
                <a:solidFill>
                  <a:schemeClr val="tx1">
                    <a:lumMod val="95000"/>
                    <a:lumOff val="5000"/>
                  </a:schemeClr>
                </a:solidFill>
                <a:latin typeface="Times New Roman" panose="02020603050405020304" pitchFamily="18" charset="0"/>
                <a:cs typeface="Times New Roman" panose="02020603050405020304" pitchFamily="18" charset="0"/>
              </a:rPr>
              <a:t>To develop an AI-powered platform for multilingual legal document classification, summarization, and intelligent retrieval.</a:t>
            </a:r>
          </a:p>
          <a:p>
            <a:pPr>
              <a:lnSpc>
                <a:spcPct val="150000"/>
              </a:lnSpc>
              <a:buFont typeface="Wingdings" panose="05000000000000000000" pitchFamily="2" charset="2"/>
              <a:buChar char="Ø"/>
            </a:pPr>
            <a:r>
              <a:rPr lang="en-IN" sz="1900" b="1" dirty="0">
                <a:solidFill>
                  <a:schemeClr val="tx1">
                    <a:lumMod val="95000"/>
                    <a:lumOff val="5000"/>
                  </a:schemeClr>
                </a:solidFill>
                <a:latin typeface="Times New Roman" panose="02020603050405020304" pitchFamily="18" charset="0"/>
                <a:cs typeface="Times New Roman" panose="02020603050405020304" pitchFamily="18" charset="0"/>
              </a:rPr>
              <a:t>Develop</a:t>
            </a:r>
            <a:r>
              <a:rPr lang="en-IN" sz="1900" dirty="0">
                <a:solidFill>
                  <a:schemeClr val="tx1">
                    <a:lumMod val="95000"/>
                    <a:lumOff val="5000"/>
                  </a:schemeClr>
                </a:solidFill>
                <a:latin typeface="Times New Roman" panose="02020603050405020304" pitchFamily="18" charset="0"/>
                <a:cs typeface="Times New Roman" panose="02020603050405020304" pitchFamily="18" charset="0"/>
              </a:rPr>
              <a:t> an AI model for automatic classification of multilingual Indian legal documents.</a:t>
            </a:r>
          </a:p>
          <a:p>
            <a:pPr>
              <a:lnSpc>
                <a:spcPct val="150000"/>
              </a:lnSpc>
              <a:buFont typeface="Wingdings" panose="05000000000000000000" pitchFamily="2" charset="2"/>
              <a:buChar char="Ø"/>
            </a:pPr>
            <a:r>
              <a:rPr lang="en-IN" sz="1900" b="1" dirty="0">
                <a:solidFill>
                  <a:schemeClr val="tx1">
                    <a:lumMod val="95000"/>
                    <a:lumOff val="5000"/>
                  </a:schemeClr>
                </a:solidFill>
                <a:latin typeface="Times New Roman" panose="02020603050405020304" pitchFamily="18" charset="0"/>
                <a:cs typeface="Times New Roman" panose="02020603050405020304" pitchFamily="18" charset="0"/>
              </a:rPr>
              <a:t>Build</a:t>
            </a:r>
            <a:r>
              <a:rPr lang="en-IN" sz="1900" dirty="0">
                <a:solidFill>
                  <a:schemeClr val="tx1">
                    <a:lumMod val="95000"/>
                    <a:lumOff val="5000"/>
                  </a:schemeClr>
                </a:solidFill>
                <a:latin typeface="Times New Roman" panose="02020603050405020304" pitchFamily="18" charset="0"/>
                <a:cs typeface="Times New Roman" panose="02020603050405020304" pitchFamily="18" charset="0"/>
              </a:rPr>
              <a:t> a legal documents summarizer to generate concise, structured summaries.</a:t>
            </a:r>
          </a:p>
          <a:p>
            <a:pPr>
              <a:lnSpc>
                <a:spcPct val="150000"/>
              </a:lnSpc>
              <a:buFont typeface="Wingdings" panose="05000000000000000000" pitchFamily="2" charset="2"/>
              <a:buChar char="Ø"/>
            </a:pPr>
            <a:r>
              <a:rPr lang="en-IN" sz="1900" b="1" dirty="0">
                <a:solidFill>
                  <a:schemeClr val="tx1">
                    <a:lumMod val="95000"/>
                    <a:lumOff val="5000"/>
                  </a:schemeClr>
                </a:solidFill>
                <a:latin typeface="Times New Roman" panose="02020603050405020304" pitchFamily="18" charset="0"/>
                <a:cs typeface="Times New Roman" panose="02020603050405020304" pitchFamily="18" charset="0"/>
              </a:rPr>
              <a:t>Design</a:t>
            </a:r>
            <a:r>
              <a:rPr lang="en-IN" sz="1900" dirty="0">
                <a:solidFill>
                  <a:schemeClr val="tx1">
                    <a:lumMod val="95000"/>
                    <a:lumOff val="5000"/>
                  </a:schemeClr>
                </a:solidFill>
                <a:latin typeface="Times New Roman" panose="02020603050405020304" pitchFamily="18" charset="0"/>
                <a:cs typeface="Times New Roman" panose="02020603050405020304" pitchFamily="18" charset="0"/>
              </a:rPr>
              <a:t> an intelligent search interface for fast, semantic legal document retrieval.</a:t>
            </a:r>
          </a:p>
          <a:p>
            <a:pPr>
              <a:lnSpc>
                <a:spcPct val="150000"/>
              </a:lnSpc>
              <a:buFont typeface="Wingdings" panose="05000000000000000000" pitchFamily="2" charset="2"/>
              <a:buChar char="Ø"/>
            </a:pPr>
            <a:r>
              <a:rPr lang="en-IN" sz="1900" b="1" dirty="0">
                <a:solidFill>
                  <a:schemeClr val="tx1">
                    <a:lumMod val="95000"/>
                    <a:lumOff val="5000"/>
                  </a:schemeClr>
                </a:solidFill>
                <a:latin typeface="Times New Roman" panose="02020603050405020304" pitchFamily="18" charset="0"/>
                <a:cs typeface="Times New Roman" panose="02020603050405020304" pitchFamily="18" charset="0"/>
              </a:rPr>
              <a:t>Evaluate</a:t>
            </a:r>
            <a:r>
              <a:rPr lang="en-IN" sz="1900" dirty="0">
                <a:solidFill>
                  <a:schemeClr val="tx1">
                    <a:lumMod val="95000"/>
                    <a:lumOff val="5000"/>
                  </a:schemeClr>
                </a:solidFill>
                <a:latin typeface="Times New Roman" panose="02020603050405020304" pitchFamily="18" charset="0"/>
                <a:cs typeface="Times New Roman" panose="02020603050405020304" pitchFamily="18" charset="0"/>
              </a:rPr>
              <a:t> the system with legal professionals to assess its effectiveness and usability</a:t>
            </a:r>
            <a:r>
              <a:rPr lang="en-IN" dirty="0">
                <a:solidFill>
                  <a:schemeClr val="tx1">
                    <a:lumMod val="95000"/>
                    <a:lumOff val="5000"/>
                  </a:schemeClr>
                </a:solidFill>
                <a:latin typeface="Times New Roman" panose="02020603050405020304" pitchFamily="18" charset="0"/>
                <a:cs typeface="Times New Roman" panose="02020603050405020304" pitchFamily="18" charset="0"/>
              </a:rPr>
              <a:t>.</a:t>
            </a:r>
          </a:p>
          <a:p>
            <a:endParaRPr lang="en-IN" dirty="0">
              <a:solidFill>
                <a:schemeClr val="tx1">
                  <a:lumMod val="95000"/>
                  <a:lumOff val="5000"/>
                </a:schemeClr>
              </a:solidFill>
            </a:endParaRPr>
          </a:p>
          <a:p>
            <a:endParaRPr lang="en-IN" dirty="0"/>
          </a:p>
          <a:p>
            <a:pPr marL="0" indent="0" algn="just">
              <a:buNone/>
            </a:pP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220828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573B1E-DE36-E855-CDB0-7BD4D1305B12}"/>
              </a:ext>
            </a:extLst>
          </p:cNvPr>
          <p:cNvSpPr>
            <a:spLocks noGrp="1"/>
          </p:cNvSpPr>
          <p:nvPr>
            <p:ph type="title"/>
          </p:nvPr>
        </p:nvSpPr>
        <p:spPr>
          <a:xfrm>
            <a:off x="720090" y="161642"/>
            <a:ext cx="7886700" cy="698269"/>
          </a:xfrm>
          <a:solidFill>
            <a:srgbClr val="CC3300"/>
          </a:solidFill>
        </p:spPr>
        <p:txBody>
          <a:bodyPr>
            <a:normAutofit fontScale="90000"/>
          </a:bodyPr>
          <a:lstStyle/>
          <a:p>
            <a:pPr algn="ctr"/>
            <a:r>
              <a:rPr lang="en-IN" sz="3975" b="1" dirty="0">
                <a:latin typeface="Times New Roman" panose="02020603050405020304" pitchFamily="18" charset="0"/>
                <a:cs typeface="Times New Roman" panose="02020603050405020304" pitchFamily="18" charset="0"/>
              </a:rPr>
              <a:t>PROPOSED SYSTEM</a:t>
            </a:r>
            <a:br>
              <a:rPr lang="en-IN" dirty="0"/>
            </a:br>
            <a:endParaRPr lang="en-IN" dirty="0"/>
          </a:p>
        </p:txBody>
      </p:sp>
      <p:sp>
        <p:nvSpPr>
          <p:cNvPr id="3" name="Content Placeholder 2">
            <a:extLst>
              <a:ext uri="{FF2B5EF4-FFF2-40B4-BE49-F238E27FC236}">
                <a16:creationId xmlns:a16="http://schemas.microsoft.com/office/drawing/2014/main" id="{A684B840-5782-BE0C-5FD7-21B9F03E388C}"/>
              </a:ext>
            </a:extLst>
          </p:cNvPr>
          <p:cNvSpPr>
            <a:spLocks noGrp="1"/>
          </p:cNvSpPr>
          <p:nvPr>
            <p:ph idx="1"/>
          </p:nvPr>
        </p:nvSpPr>
        <p:spPr>
          <a:xfrm>
            <a:off x="628650" y="1143001"/>
            <a:ext cx="7886700" cy="3489722"/>
          </a:xfrm>
        </p:spPr>
        <p:txBody>
          <a:bodyPr>
            <a:normAutofit/>
          </a:bodyPr>
          <a:lstStyle/>
          <a:p>
            <a:pPr marL="0" indent="0">
              <a:buNone/>
            </a:pPr>
            <a:endParaRPr lang="en-IN" sz="24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755E377F-BA56-6579-41F6-F4E9B141508C}"/>
              </a:ext>
            </a:extLst>
          </p:cNvPr>
          <p:cNvPicPr>
            <a:picLocks noChangeAspect="1"/>
          </p:cNvPicPr>
          <p:nvPr/>
        </p:nvPicPr>
        <p:blipFill>
          <a:blip r:embed="rId2"/>
          <a:stretch>
            <a:fillRect/>
          </a:stretch>
        </p:blipFill>
        <p:spPr>
          <a:xfrm>
            <a:off x="628650" y="1030777"/>
            <a:ext cx="8091402" cy="4042667"/>
          </a:xfrm>
          <a:prstGeom prst="rect">
            <a:avLst/>
          </a:prstGeom>
        </p:spPr>
      </p:pic>
    </p:spTree>
    <p:extLst>
      <p:ext uri="{BB962C8B-B14F-4D97-AF65-F5344CB8AC3E}">
        <p14:creationId xmlns:p14="http://schemas.microsoft.com/office/powerpoint/2010/main" val="41447196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091F55-2E05-7C8E-2FDF-3F56CF0594D0}"/>
              </a:ext>
            </a:extLst>
          </p:cNvPr>
          <p:cNvSpPr>
            <a:spLocks noGrp="1"/>
          </p:cNvSpPr>
          <p:nvPr>
            <p:ph type="title"/>
          </p:nvPr>
        </p:nvSpPr>
        <p:spPr>
          <a:xfrm>
            <a:off x="628650" y="273844"/>
            <a:ext cx="7886700" cy="883905"/>
          </a:xfrm>
          <a:solidFill>
            <a:srgbClr val="CC3300"/>
          </a:solidFill>
        </p:spPr>
        <p:txBody>
          <a:bodyPr>
            <a:normAutofit fontScale="90000"/>
          </a:bodyPr>
          <a:lstStyle/>
          <a:p>
            <a:pPr algn="ctr"/>
            <a:r>
              <a:rPr lang="en-US" sz="3675" b="1" dirty="0">
                <a:latin typeface="Times New Roman" panose="02020603050405020304" pitchFamily="18" charset="0"/>
                <a:cs typeface="Times New Roman" panose="02020603050405020304" pitchFamily="18" charset="0"/>
              </a:rPr>
              <a:t>SYSTEM REQUIREMENTS</a:t>
            </a:r>
            <a:br>
              <a:rPr lang="en-IN" dirty="0"/>
            </a:br>
            <a:endParaRPr lang="en-IN" dirty="0"/>
          </a:p>
        </p:txBody>
      </p:sp>
      <p:sp>
        <p:nvSpPr>
          <p:cNvPr id="3" name="Content Placeholder 2">
            <a:extLst>
              <a:ext uri="{FF2B5EF4-FFF2-40B4-BE49-F238E27FC236}">
                <a16:creationId xmlns:a16="http://schemas.microsoft.com/office/drawing/2014/main" id="{B3C6D811-A944-2F4C-6A52-2FD8D9F1D4E6}"/>
              </a:ext>
            </a:extLst>
          </p:cNvPr>
          <p:cNvSpPr>
            <a:spLocks noGrp="1"/>
          </p:cNvSpPr>
          <p:nvPr>
            <p:ph idx="1"/>
          </p:nvPr>
        </p:nvSpPr>
        <p:spPr/>
        <p:txBody>
          <a:bodyPr>
            <a:normAutofit fontScale="85000" lnSpcReduction="20000"/>
          </a:bodyPr>
          <a:lstStyle/>
          <a:p>
            <a:pPr marL="114300" indent="0">
              <a:buNone/>
            </a:pPr>
            <a:r>
              <a:rPr lang="en-US" sz="3000" b="1" dirty="0">
                <a:solidFill>
                  <a:schemeClr val="tx1">
                    <a:lumMod val="95000"/>
                    <a:lumOff val="5000"/>
                  </a:schemeClr>
                </a:solidFill>
                <a:latin typeface="Times New Roman" panose="02020603050405020304" pitchFamily="18" charset="0"/>
                <a:cs typeface="Times New Roman" panose="02020603050405020304" pitchFamily="18" charset="0"/>
              </a:rPr>
              <a:t>            </a:t>
            </a:r>
          </a:p>
          <a:p>
            <a:pPr marL="114300" indent="0">
              <a:buNone/>
            </a:pPr>
            <a:r>
              <a:rPr lang="en-US" sz="3000" b="1" dirty="0">
                <a:solidFill>
                  <a:schemeClr val="tx1">
                    <a:lumMod val="95000"/>
                    <a:lumOff val="5000"/>
                  </a:schemeClr>
                </a:solidFill>
                <a:latin typeface="Times New Roman" panose="02020603050405020304" pitchFamily="18" charset="0"/>
                <a:cs typeface="Times New Roman" panose="02020603050405020304" pitchFamily="18" charset="0"/>
              </a:rPr>
              <a:t>       Hardware</a:t>
            </a:r>
          </a:p>
          <a:p>
            <a:pPr marL="0" indent="0">
              <a:buNone/>
            </a:pPr>
            <a:r>
              <a:rPr lang="en-US" sz="2400" dirty="0">
                <a:solidFill>
                  <a:schemeClr val="tx1">
                    <a:lumMod val="95000"/>
                    <a:lumOff val="5000"/>
                  </a:schemeClr>
                </a:solidFill>
                <a:latin typeface="Times New Roman" panose="02020603050405020304" pitchFamily="18" charset="0"/>
                <a:cs typeface="Times New Roman" panose="02020603050405020304" pitchFamily="18" charset="0"/>
              </a:rPr>
              <a:t>  </a:t>
            </a:r>
          </a:p>
          <a:p>
            <a:pPr indent="-457200">
              <a:lnSpc>
                <a:spcPct val="150000"/>
              </a:lnSpc>
              <a:buFont typeface="Wingdings" panose="05000000000000000000" pitchFamily="2" charset="2"/>
              <a:buChar char="Ø"/>
            </a:pPr>
            <a:r>
              <a:rPr lang="en-US" sz="2600" dirty="0">
                <a:solidFill>
                  <a:schemeClr val="tx1">
                    <a:lumMod val="95000"/>
                    <a:lumOff val="5000"/>
                  </a:schemeClr>
                </a:solidFill>
                <a:latin typeface="Times New Roman" panose="02020603050405020304" pitchFamily="18" charset="0"/>
                <a:cs typeface="Times New Roman" panose="02020603050405020304" pitchFamily="18" charset="0"/>
              </a:rPr>
              <a:t>      Processer: Ryzen 5/ intel i5</a:t>
            </a:r>
            <a:endParaRPr lang="en-IN" sz="2600" dirty="0">
              <a:solidFill>
                <a:schemeClr val="tx1">
                  <a:lumMod val="95000"/>
                  <a:lumOff val="5000"/>
                </a:schemeClr>
              </a:solidFill>
              <a:latin typeface="Times New Roman" panose="02020603050405020304" pitchFamily="18" charset="0"/>
              <a:cs typeface="Times New Roman" panose="02020603050405020304" pitchFamily="18" charset="0"/>
            </a:endParaRPr>
          </a:p>
          <a:p>
            <a:pPr indent="-457200">
              <a:lnSpc>
                <a:spcPct val="150000"/>
              </a:lnSpc>
              <a:buFont typeface="Wingdings" panose="05000000000000000000" pitchFamily="2" charset="2"/>
              <a:buChar char="Ø"/>
            </a:pPr>
            <a:r>
              <a:rPr lang="en-US" sz="2600" dirty="0">
                <a:solidFill>
                  <a:schemeClr val="tx1">
                    <a:lumMod val="95000"/>
                    <a:lumOff val="5000"/>
                  </a:schemeClr>
                </a:solidFill>
                <a:latin typeface="Times New Roman" panose="02020603050405020304" pitchFamily="18" charset="0"/>
                <a:cs typeface="Times New Roman" panose="02020603050405020304" pitchFamily="18" charset="0"/>
              </a:rPr>
              <a:t>      RAM: 8 GB or higher </a:t>
            </a:r>
            <a:endParaRPr lang="en-IN" sz="2600" dirty="0">
              <a:solidFill>
                <a:schemeClr val="tx1">
                  <a:lumMod val="95000"/>
                  <a:lumOff val="5000"/>
                </a:schemeClr>
              </a:solidFill>
              <a:latin typeface="Times New Roman" panose="02020603050405020304" pitchFamily="18" charset="0"/>
              <a:cs typeface="Times New Roman" panose="02020603050405020304" pitchFamily="18" charset="0"/>
            </a:endParaRPr>
          </a:p>
          <a:p>
            <a:pPr indent="-457200">
              <a:lnSpc>
                <a:spcPct val="150000"/>
              </a:lnSpc>
              <a:buFont typeface="Wingdings" panose="05000000000000000000" pitchFamily="2" charset="2"/>
              <a:buChar char="Ø"/>
            </a:pPr>
            <a:r>
              <a:rPr lang="en-US" sz="2600" dirty="0">
                <a:solidFill>
                  <a:schemeClr val="tx1">
                    <a:lumMod val="95000"/>
                    <a:lumOff val="5000"/>
                  </a:schemeClr>
                </a:solidFill>
                <a:latin typeface="Times New Roman" panose="02020603050405020304" pitchFamily="18" charset="0"/>
                <a:cs typeface="Times New Roman" panose="02020603050405020304" pitchFamily="18" charset="0"/>
              </a:rPr>
              <a:t>      Storage: 256 GB SSD or higher</a:t>
            </a:r>
            <a:endParaRPr lang="en-IN" sz="2600" dirty="0">
              <a:solidFill>
                <a:schemeClr val="tx1">
                  <a:lumMod val="95000"/>
                  <a:lumOff val="5000"/>
                </a:schemeClr>
              </a:solidFill>
              <a:latin typeface="Times New Roman" panose="02020603050405020304" pitchFamily="18" charset="0"/>
              <a:cs typeface="Times New Roman" panose="02020603050405020304" pitchFamily="18" charset="0"/>
            </a:endParaRPr>
          </a:p>
          <a:p>
            <a:pPr indent="-457200">
              <a:lnSpc>
                <a:spcPct val="150000"/>
              </a:lnSpc>
              <a:buFont typeface="Wingdings" panose="05000000000000000000" pitchFamily="2" charset="2"/>
              <a:buChar char="Ø"/>
            </a:pPr>
            <a:r>
              <a:rPr lang="en-US" sz="2600" dirty="0">
                <a:solidFill>
                  <a:schemeClr val="tx1">
                    <a:lumMod val="95000"/>
                    <a:lumOff val="5000"/>
                  </a:schemeClr>
                </a:solidFill>
                <a:latin typeface="Times New Roman" panose="02020603050405020304" pitchFamily="18" charset="0"/>
                <a:cs typeface="Times New Roman" panose="02020603050405020304" pitchFamily="18" charset="0"/>
              </a:rPr>
              <a:t>      Graphics: NVIDIA GPU </a:t>
            </a:r>
            <a:endParaRPr lang="en-IN" sz="2600" dirty="0">
              <a:solidFill>
                <a:schemeClr val="tx1">
                  <a:lumMod val="95000"/>
                  <a:lumOff val="5000"/>
                </a:schemeClr>
              </a:solidFill>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 </a:t>
            </a:r>
          </a:p>
          <a:p>
            <a:endParaRPr lang="en-IN" sz="2400" dirty="0">
              <a:latin typeface="Times New Roman" panose="02020603050405020304" pitchFamily="18" charset="0"/>
              <a:cs typeface="Times New Roman" panose="02020603050405020304" pitchFamily="18" charset="0"/>
            </a:endParaRPr>
          </a:p>
        </p:txBody>
      </p:sp>
      <p:sp>
        <p:nvSpPr>
          <p:cNvPr id="5" name="Heptagon 4">
            <a:extLst>
              <a:ext uri="{FF2B5EF4-FFF2-40B4-BE49-F238E27FC236}">
                <a16:creationId xmlns:a16="http://schemas.microsoft.com/office/drawing/2014/main" id="{B1FD3D9D-31A8-ABA8-6757-2D98CA52AD36}"/>
              </a:ext>
            </a:extLst>
          </p:cNvPr>
          <p:cNvSpPr/>
          <p:nvPr/>
        </p:nvSpPr>
        <p:spPr>
          <a:xfrm>
            <a:off x="628650" y="1679171"/>
            <a:ext cx="315883" cy="289757"/>
          </a:xfrm>
          <a:prstGeom prst="heptagon">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0724281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591CF6-6596-53B4-3DC1-614E143ED987}"/>
              </a:ext>
            </a:extLst>
          </p:cNvPr>
          <p:cNvSpPr>
            <a:spLocks noGrp="1"/>
          </p:cNvSpPr>
          <p:nvPr>
            <p:ph type="title"/>
          </p:nvPr>
        </p:nvSpPr>
        <p:spPr>
          <a:xfrm>
            <a:off x="358872" y="402032"/>
            <a:ext cx="8520600" cy="572700"/>
          </a:xfrm>
        </p:spPr>
        <p:txBody>
          <a:bodyPr>
            <a:normAutofit fontScale="90000"/>
          </a:bodyPr>
          <a:lstStyle/>
          <a:p>
            <a:r>
              <a:rPr lang="en-US" dirty="0"/>
              <a:t>         </a:t>
            </a:r>
            <a:r>
              <a:rPr lang="en-US" sz="2900" b="1" dirty="0">
                <a:latin typeface="Times New Roman" panose="02020603050405020304" pitchFamily="18" charset="0"/>
                <a:cs typeface="Times New Roman" panose="02020603050405020304" pitchFamily="18" charset="0"/>
              </a:rPr>
              <a:t>Software: </a:t>
            </a:r>
            <a:br>
              <a:rPr lang="en-IN" sz="2100" dirty="0"/>
            </a:br>
            <a:endParaRPr lang="en-IN" dirty="0"/>
          </a:p>
        </p:txBody>
      </p:sp>
      <p:sp>
        <p:nvSpPr>
          <p:cNvPr id="3" name="Text Placeholder 2">
            <a:extLst>
              <a:ext uri="{FF2B5EF4-FFF2-40B4-BE49-F238E27FC236}">
                <a16:creationId xmlns:a16="http://schemas.microsoft.com/office/drawing/2014/main" id="{1251CC8C-FF98-1766-F152-FE96E637639C}"/>
              </a:ext>
            </a:extLst>
          </p:cNvPr>
          <p:cNvSpPr>
            <a:spLocks noGrp="1"/>
          </p:cNvSpPr>
          <p:nvPr>
            <p:ph type="body" idx="1"/>
          </p:nvPr>
        </p:nvSpPr>
        <p:spPr>
          <a:xfrm>
            <a:off x="256216" y="1288821"/>
            <a:ext cx="3999900" cy="3416400"/>
          </a:xfrm>
        </p:spPr>
        <p:txBody>
          <a:bodyPr>
            <a:normAutofit fontScale="92500" lnSpcReduction="20000"/>
          </a:bodyPr>
          <a:lstStyle/>
          <a:p>
            <a:pPr marL="139700" indent="0">
              <a:lnSpc>
                <a:spcPct val="150000"/>
              </a:lnSpc>
              <a:buNone/>
            </a:pPr>
            <a:r>
              <a:rPr lang="en-IN" sz="1900" b="1" dirty="0">
                <a:solidFill>
                  <a:schemeClr val="tx1">
                    <a:lumMod val="95000"/>
                    <a:lumOff val="5000"/>
                  </a:schemeClr>
                </a:solidFill>
                <a:latin typeface="Times New Roman" panose="02020603050405020304" pitchFamily="18" charset="0"/>
                <a:cs typeface="Times New Roman" panose="02020603050405020304" pitchFamily="18" charset="0"/>
              </a:rPr>
              <a:t>Technologies &amp; Frameworks</a:t>
            </a:r>
          </a:p>
          <a:p>
            <a:pPr marL="385763" indent="-385763">
              <a:lnSpc>
                <a:spcPct val="150000"/>
              </a:lnSpc>
              <a:buFont typeface="Wingdings" panose="05000000000000000000" pitchFamily="2" charset="2"/>
              <a:buChar char="Ø"/>
            </a:pPr>
            <a:r>
              <a:rPr lang="en-IN" sz="1900" b="1" dirty="0">
                <a:solidFill>
                  <a:schemeClr val="tx1">
                    <a:lumMod val="95000"/>
                    <a:lumOff val="5000"/>
                  </a:schemeClr>
                </a:solidFill>
                <a:latin typeface="Times New Roman" panose="02020603050405020304" pitchFamily="18" charset="0"/>
                <a:cs typeface="Times New Roman" panose="02020603050405020304" pitchFamily="18" charset="0"/>
              </a:rPr>
              <a:t>Languages:</a:t>
            </a:r>
            <a:r>
              <a:rPr lang="en-IN" sz="1900" dirty="0">
                <a:solidFill>
                  <a:schemeClr val="tx1">
                    <a:lumMod val="95000"/>
                    <a:lumOff val="5000"/>
                  </a:schemeClr>
                </a:solidFill>
                <a:latin typeface="Times New Roman" panose="02020603050405020304" pitchFamily="18" charset="0"/>
                <a:cs typeface="Times New Roman" panose="02020603050405020304" pitchFamily="18" charset="0"/>
              </a:rPr>
              <a:t> Python, JavaScript</a:t>
            </a:r>
          </a:p>
          <a:p>
            <a:pPr marL="385763" indent="-385763">
              <a:lnSpc>
                <a:spcPct val="150000"/>
              </a:lnSpc>
              <a:buFont typeface="Wingdings" panose="05000000000000000000" pitchFamily="2" charset="2"/>
              <a:buChar char="Ø"/>
            </a:pPr>
            <a:r>
              <a:rPr lang="en-IN" sz="1900" b="1" dirty="0">
                <a:solidFill>
                  <a:schemeClr val="tx1">
                    <a:lumMod val="95000"/>
                    <a:lumOff val="5000"/>
                  </a:schemeClr>
                </a:solidFill>
                <a:latin typeface="Times New Roman" panose="02020603050405020304" pitchFamily="18" charset="0"/>
                <a:cs typeface="Times New Roman" panose="02020603050405020304" pitchFamily="18" charset="0"/>
              </a:rPr>
              <a:t>AI Technologies:</a:t>
            </a:r>
            <a:r>
              <a:rPr lang="en-IN" sz="1900" dirty="0">
                <a:solidFill>
                  <a:schemeClr val="tx1">
                    <a:lumMod val="95000"/>
                    <a:lumOff val="5000"/>
                  </a:schemeClr>
                </a:solidFill>
                <a:latin typeface="Times New Roman" panose="02020603050405020304" pitchFamily="18" charset="0"/>
                <a:cs typeface="Times New Roman" panose="02020603050405020304" pitchFamily="18" charset="0"/>
              </a:rPr>
              <a:t> AI, ML, NLP, LLM, RAG, OCR</a:t>
            </a:r>
          </a:p>
          <a:p>
            <a:pPr marL="385763" indent="-385763">
              <a:lnSpc>
                <a:spcPct val="150000"/>
              </a:lnSpc>
              <a:buFont typeface="Wingdings" panose="05000000000000000000" pitchFamily="2" charset="2"/>
              <a:buChar char="Ø"/>
            </a:pPr>
            <a:r>
              <a:rPr lang="en-IN" sz="1900" b="1" dirty="0">
                <a:solidFill>
                  <a:schemeClr val="tx1">
                    <a:lumMod val="95000"/>
                    <a:lumOff val="5000"/>
                  </a:schemeClr>
                </a:solidFill>
                <a:latin typeface="Times New Roman" panose="02020603050405020304" pitchFamily="18" charset="0"/>
                <a:cs typeface="Times New Roman" panose="02020603050405020304" pitchFamily="18" charset="0"/>
              </a:rPr>
              <a:t>Frameworks:</a:t>
            </a:r>
            <a:r>
              <a:rPr lang="en-IN" sz="1900" dirty="0">
                <a:solidFill>
                  <a:schemeClr val="tx1">
                    <a:lumMod val="95000"/>
                    <a:lumOff val="5000"/>
                  </a:schemeClr>
                </a:solidFill>
                <a:latin typeface="Times New Roman" panose="02020603050405020304" pitchFamily="18" charset="0"/>
                <a:cs typeface="Times New Roman" panose="02020603050405020304" pitchFamily="18" charset="0"/>
              </a:rPr>
              <a:t> </a:t>
            </a:r>
            <a:r>
              <a:rPr lang="en-IN" sz="1900" dirty="0" err="1">
                <a:solidFill>
                  <a:schemeClr val="tx1">
                    <a:lumMod val="95000"/>
                    <a:lumOff val="5000"/>
                  </a:schemeClr>
                </a:solidFill>
                <a:latin typeface="Times New Roman" panose="02020603050405020304" pitchFamily="18" charset="0"/>
                <a:cs typeface="Times New Roman" panose="02020603050405020304" pitchFamily="18" charset="0"/>
              </a:rPr>
              <a:t>FastAPI</a:t>
            </a:r>
            <a:r>
              <a:rPr lang="en-IN" sz="1900" dirty="0">
                <a:solidFill>
                  <a:schemeClr val="tx1">
                    <a:lumMod val="95000"/>
                    <a:lumOff val="5000"/>
                  </a:schemeClr>
                </a:solidFill>
                <a:latin typeface="Times New Roman" panose="02020603050405020304" pitchFamily="18" charset="0"/>
                <a:cs typeface="Times New Roman" panose="02020603050405020304" pitchFamily="18" charset="0"/>
              </a:rPr>
              <a:t>, React.js, </a:t>
            </a:r>
            <a:r>
              <a:rPr lang="en-IN" sz="1900" dirty="0" err="1">
                <a:solidFill>
                  <a:schemeClr val="tx1">
                    <a:lumMod val="95000"/>
                    <a:lumOff val="5000"/>
                  </a:schemeClr>
                </a:solidFill>
                <a:latin typeface="Times New Roman" panose="02020603050405020304" pitchFamily="18" charset="0"/>
                <a:cs typeface="Times New Roman" panose="02020603050405020304" pitchFamily="18" charset="0"/>
              </a:rPr>
              <a:t>LangChain</a:t>
            </a:r>
            <a:r>
              <a:rPr lang="en-IN" sz="1900" dirty="0">
                <a:solidFill>
                  <a:schemeClr val="tx1">
                    <a:lumMod val="95000"/>
                    <a:lumOff val="5000"/>
                  </a:schemeClr>
                </a:solidFill>
                <a:latin typeface="Times New Roman" panose="02020603050405020304" pitchFamily="18" charset="0"/>
                <a:cs typeface="Times New Roman" panose="02020603050405020304" pitchFamily="18" charset="0"/>
              </a:rPr>
              <a:t>, Hugging Face</a:t>
            </a:r>
          </a:p>
          <a:p>
            <a:pPr marL="385763" indent="-385763">
              <a:lnSpc>
                <a:spcPct val="150000"/>
              </a:lnSpc>
              <a:buFont typeface="Wingdings" panose="05000000000000000000" pitchFamily="2" charset="2"/>
              <a:buChar char="Ø"/>
            </a:pPr>
            <a:r>
              <a:rPr lang="en-IN" sz="1900" b="1" dirty="0">
                <a:solidFill>
                  <a:schemeClr val="tx1">
                    <a:lumMod val="95000"/>
                    <a:lumOff val="5000"/>
                  </a:schemeClr>
                </a:solidFill>
                <a:latin typeface="Times New Roman" panose="02020603050405020304" pitchFamily="18" charset="0"/>
                <a:cs typeface="Times New Roman" panose="02020603050405020304" pitchFamily="18" charset="0"/>
              </a:rPr>
              <a:t>APIs:</a:t>
            </a:r>
            <a:r>
              <a:rPr lang="en-IN" sz="1900" dirty="0">
                <a:solidFill>
                  <a:schemeClr val="tx1">
                    <a:lumMod val="95000"/>
                    <a:lumOff val="5000"/>
                  </a:schemeClr>
                </a:solidFill>
                <a:latin typeface="Times New Roman" panose="02020603050405020304" pitchFamily="18" charset="0"/>
                <a:cs typeface="Times New Roman" panose="02020603050405020304" pitchFamily="18" charset="0"/>
              </a:rPr>
              <a:t> Google Gemini, IndicTrans2, Tesseract OCR</a:t>
            </a:r>
          </a:p>
          <a:p>
            <a:pPr marL="385763" indent="-385763">
              <a:lnSpc>
                <a:spcPct val="150000"/>
              </a:lnSpc>
              <a:buFont typeface="Wingdings" panose="05000000000000000000" pitchFamily="2" charset="2"/>
              <a:buChar char="Ø"/>
            </a:pPr>
            <a:r>
              <a:rPr lang="en-IN" sz="1900" b="1" dirty="0">
                <a:solidFill>
                  <a:schemeClr val="tx1">
                    <a:lumMod val="95000"/>
                    <a:lumOff val="5000"/>
                  </a:schemeClr>
                </a:solidFill>
                <a:latin typeface="Times New Roman" panose="02020603050405020304" pitchFamily="18" charset="0"/>
                <a:cs typeface="Times New Roman" panose="02020603050405020304" pitchFamily="18" charset="0"/>
              </a:rPr>
              <a:t>Deployment:</a:t>
            </a:r>
            <a:r>
              <a:rPr lang="en-IN" sz="1900" dirty="0">
                <a:solidFill>
                  <a:schemeClr val="tx1">
                    <a:lumMod val="95000"/>
                    <a:lumOff val="5000"/>
                  </a:schemeClr>
                </a:solidFill>
                <a:latin typeface="Times New Roman" panose="02020603050405020304" pitchFamily="18" charset="0"/>
                <a:cs typeface="Times New Roman" panose="02020603050405020304" pitchFamily="18" charset="0"/>
              </a:rPr>
              <a:t> Docker, AWS EC2</a:t>
            </a:r>
          </a:p>
          <a:p>
            <a:endParaRPr lang="en-IN" dirty="0"/>
          </a:p>
        </p:txBody>
      </p:sp>
      <p:sp>
        <p:nvSpPr>
          <p:cNvPr id="4" name="Text Placeholder 3">
            <a:extLst>
              <a:ext uri="{FF2B5EF4-FFF2-40B4-BE49-F238E27FC236}">
                <a16:creationId xmlns:a16="http://schemas.microsoft.com/office/drawing/2014/main" id="{2757B9B3-7167-9371-B25A-2AAA62EE5DAE}"/>
              </a:ext>
            </a:extLst>
          </p:cNvPr>
          <p:cNvSpPr>
            <a:spLocks noGrp="1"/>
          </p:cNvSpPr>
          <p:nvPr>
            <p:ph type="body" idx="2"/>
          </p:nvPr>
        </p:nvSpPr>
        <p:spPr>
          <a:xfrm>
            <a:off x="4729943" y="1091910"/>
            <a:ext cx="4195222" cy="3810223"/>
          </a:xfrm>
        </p:spPr>
        <p:txBody>
          <a:bodyPr>
            <a:normAutofit fontScale="70000" lnSpcReduction="20000"/>
          </a:bodyPr>
          <a:lstStyle/>
          <a:p>
            <a:pPr marL="139700" indent="0">
              <a:lnSpc>
                <a:spcPct val="150000"/>
              </a:lnSpc>
              <a:buNone/>
            </a:pPr>
            <a:r>
              <a:rPr lang="en-IN" sz="2300" b="1" dirty="0">
                <a:solidFill>
                  <a:schemeClr val="tx1">
                    <a:lumMod val="95000"/>
                    <a:lumOff val="5000"/>
                  </a:schemeClr>
                </a:solidFill>
                <a:latin typeface="Times New Roman" panose="02020603050405020304" pitchFamily="18" charset="0"/>
                <a:cs typeface="Times New Roman" panose="02020603050405020304" pitchFamily="18" charset="0"/>
              </a:rPr>
              <a:t>Data &amp; Backend</a:t>
            </a:r>
          </a:p>
          <a:p>
            <a:pPr marL="385763" indent="-385763">
              <a:lnSpc>
                <a:spcPct val="150000"/>
              </a:lnSpc>
              <a:buFont typeface="Wingdings" panose="05000000000000000000" pitchFamily="2" charset="2"/>
              <a:buChar char="Ø"/>
            </a:pPr>
            <a:r>
              <a:rPr lang="en-IN" sz="2300" b="1" dirty="0">
                <a:solidFill>
                  <a:schemeClr val="tx1">
                    <a:lumMod val="95000"/>
                    <a:lumOff val="5000"/>
                  </a:schemeClr>
                </a:solidFill>
                <a:latin typeface="Times New Roman" panose="02020603050405020304" pitchFamily="18" charset="0"/>
                <a:cs typeface="Times New Roman" panose="02020603050405020304" pitchFamily="18" charset="0"/>
              </a:rPr>
              <a:t>Vector Database:</a:t>
            </a:r>
            <a:r>
              <a:rPr lang="en-IN" sz="2300" dirty="0">
                <a:solidFill>
                  <a:schemeClr val="tx1">
                    <a:lumMod val="95000"/>
                    <a:lumOff val="5000"/>
                  </a:schemeClr>
                </a:solidFill>
                <a:latin typeface="Times New Roman" panose="02020603050405020304" pitchFamily="18" charset="0"/>
                <a:cs typeface="Times New Roman" panose="02020603050405020304" pitchFamily="18" charset="0"/>
              </a:rPr>
              <a:t> </a:t>
            </a:r>
            <a:r>
              <a:rPr lang="en-IN" sz="2300" dirty="0" err="1">
                <a:solidFill>
                  <a:schemeClr val="tx1">
                    <a:lumMod val="95000"/>
                    <a:lumOff val="5000"/>
                  </a:schemeClr>
                </a:solidFill>
                <a:latin typeface="Times New Roman" panose="02020603050405020304" pitchFamily="18" charset="0"/>
                <a:cs typeface="Times New Roman" panose="02020603050405020304" pitchFamily="18" charset="0"/>
              </a:rPr>
              <a:t>Qdrant</a:t>
            </a:r>
            <a:endParaRPr lang="en-IN" sz="2300" dirty="0">
              <a:solidFill>
                <a:schemeClr val="tx1">
                  <a:lumMod val="95000"/>
                  <a:lumOff val="5000"/>
                </a:schemeClr>
              </a:solidFill>
              <a:latin typeface="Times New Roman" panose="02020603050405020304" pitchFamily="18" charset="0"/>
              <a:cs typeface="Times New Roman" panose="02020603050405020304" pitchFamily="18" charset="0"/>
            </a:endParaRPr>
          </a:p>
          <a:p>
            <a:pPr marL="385763" indent="-385763">
              <a:lnSpc>
                <a:spcPct val="150000"/>
              </a:lnSpc>
              <a:buFont typeface="Wingdings" panose="05000000000000000000" pitchFamily="2" charset="2"/>
              <a:buChar char="Ø"/>
            </a:pPr>
            <a:r>
              <a:rPr lang="en-IN" sz="2300" b="1" dirty="0">
                <a:solidFill>
                  <a:schemeClr val="tx1">
                    <a:lumMod val="95000"/>
                    <a:lumOff val="5000"/>
                  </a:schemeClr>
                </a:solidFill>
                <a:latin typeface="Times New Roman" panose="02020603050405020304" pitchFamily="18" charset="0"/>
                <a:cs typeface="Times New Roman" panose="02020603050405020304" pitchFamily="18" charset="0"/>
              </a:rPr>
              <a:t>Datasets:</a:t>
            </a:r>
            <a:r>
              <a:rPr lang="en-IN" sz="2300" dirty="0">
                <a:solidFill>
                  <a:schemeClr val="tx1">
                    <a:lumMod val="95000"/>
                    <a:lumOff val="5000"/>
                  </a:schemeClr>
                </a:solidFill>
                <a:latin typeface="Times New Roman" panose="02020603050405020304" pitchFamily="18" charset="0"/>
                <a:cs typeface="Times New Roman" panose="02020603050405020304" pitchFamily="18" charset="0"/>
              </a:rPr>
              <a:t> Indian Court Judgments, Indian Kanoon, </a:t>
            </a:r>
            <a:r>
              <a:rPr lang="en-IN" sz="2300" dirty="0" err="1">
                <a:solidFill>
                  <a:schemeClr val="tx1">
                    <a:lumMod val="95000"/>
                    <a:lumOff val="5000"/>
                  </a:schemeClr>
                </a:solidFill>
                <a:latin typeface="Times New Roman" panose="02020603050405020304" pitchFamily="18" charset="0"/>
                <a:cs typeface="Times New Roman" panose="02020603050405020304" pitchFamily="18" charset="0"/>
              </a:rPr>
              <a:t>eCourts</a:t>
            </a:r>
            <a:r>
              <a:rPr lang="en-IN" sz="2300" dirty="0">
                <a:solidFill>
                  <a:schemeClr val="tx1">
                    <a:lumMod val="95000"/>
                    <a:lumOff val="5000"/>
                  </a:schemeClr>
                </a:solidFill>
                <a:latin typeface="Times New Roman" panose="02020603050405020304" pitchFamily="18" charset="0"/>
                <a:cs typeface="Times New Roman" panose="02020603050405020304" pitchFamily="18" charset="0"/>
              </a:rPr>
              <a:t>, AI4Bharat </a:t>
            </a:r>
            <a:r>
              <a:rPr lang="en-IN" sz="2300" dirty="0" err="1">
                <a:solidFill>
                  <a:schemeClr val="tx1">
                    <a:lumMod val="95000"/>
                    <a:lumOff val="5000"/>
                  </a:schemeClr>
                </a:solidFill>
                <a:latin typeface="Times New Roman" panose="02020603050405020304" pitchFamily="18" charset="0"/>
                <a:cs typeface="Times New Roman" panose="02020603050405020304" pitchFamily="18" charset="0"/>
              </a:rPr>
              <a:t>IndicCorp</a:t>
            </a:r>
            <a:r>
              <a:rPr lang="en-IN" sz="2300" dirty="0">
                <a:solidFill>
                  <a:schemeClr val="tx1">
                    <a:lumMod val="95000"/>
                    <a:lumOff val="5000"/>
                  </a:schemeClr>
                </a:solidFill>
                <a:latin typeface="Times New Roman" panose="02020603050405020304" pitchFamily="18" charset="0"/>
                <a:cs typeface="Times New Roman" panose="02020603050405020304" pitchFamily="18" charset="0"/>
              </a:rPr>
              <a:t>, Legal Document Corpus</a:t>
            </a:r>
          </a:p>
          <a:p>
            <a:pPr marL="385763" indent="-385763">
              <a:lnSpc>
                <a:spcPct val="150000"/>
              </a:lnSpc>
              <a:buFont typeface="Wingdings" panose="05000000000000000000" pitchFamily="2" charset="2"/>
              <a:buChar char="Ø"/>
            </a:pPr>
            <a:r>
              <a:rPr lang="en-IN" sz="2300" b="1" dirty="0">
                <a:solidFill>
                  <a:schemeClr val="tx1">
                    <a:lumMod val="95000"/>
                    <a:lumOff val="5000"/>
                  </a:schemeClr>
                </a:solidFill>
                <a:latin typeface="Times New Roman" panose="02020603050405020304" pitchFamily="18" charset="0"/>
                <a:cs typeface="Times New Roman" panose="02020603050405020304" pitchFamily="18" charset="0"/>
              </a:rPr>
              <a:t>Frontend:</a:t>
            </a:r>
            <a:r>
              <a:rPr lang="en-IN" sz="2300" dirty="0">
                <a:solidFill>
                  <a:schemeClr val="tx1">
                    <a:lumMod val="95000"/>
                    <a:lumOff val="5000"/>
                  </a:schemeClr>
                </a:solidFill>
                <a:latin typeface="Times New Roman" panose="02020603050405020304" pitchFamily="18" charset="0"/>
                <a:cs typeface="Times New Roman" panose="02020603050405020304" pitchFamily="18" charset="0"/>
              </a:rPr>
              <a:t> HTML5, CSS3, React.js, Tailwind CSS</a:t>
            </a:r>
          </a:p>
          <a:p>
            <a:pPr marL="385763" indent="-385763">
              <a:lnSpc>
                <a:spcPct val="150000"/>
              </a:lnSpc>
              <a:buFont typeface="Wingdings" panose="05000000000000000000" pitchFamily="2" charset="2"/>
              <a:buChar char="Ø"/>
            </a:pPr>
            <a:r>
              <a:rPr lang="en-IN" sz="2300" b="1" dirty="0">
                <a:solidFill>
                  <a:schemeClr val="tx1">
                    <a:lumMod val="95000"/>
                    <a:lumOff val="5000"/>
                  </a:schemeClr>
                </a:solidFill>
                <a:latin typeface="Times New Roman" panose="02020603050405020304" pitchFamily="18" charset="0"/>
                <a:cs typeface="Times New Roman" panose="02020603050405020304" pitchFamily="18" charset="0"/>
              </a:rPr>
              <a:t>Backend:</a:t>
            </a:r>
            <a:r>
              <a:rPr lang="en-IN" sz="2300" dirty="0">
                <a:solidFill>
                  <a:schemeClr val="tx1">
                    <a:lumMod val="95000"/>
                    <a:lumOff val="5000"/>
                  </a:schemeClr>
                </a:solidFill>
                <a:latin typeface="Times New Roman" panose="02020603050405020304" pitchFamily="18" charset="0"/>
                <a:cs typeface="Times New Roman" panose="02020603050405020304" pitchFamily="18" charset="0"/>
              </a:rPr>
              <a:t> </a:t>
            </a:r>
            <a:r>
              <a:rPr lang="en-IN" sz="2300" dirty="0" err="1">
                <a:solidFill>
                  <a:schemeClr val="tx1">
                    <a:lumMod val="95000"/>
                    <a:lumOff val="5000"/>
                  </a:schemeClr>
                </a:solidFill>
                <a:latin typeface="Times New Roman" panose="02020603050405020304" pitchFamily="18" charset="0"/>
                <a:cs typeface="Times New Roman" panose="02020603050405020304" pitchFamily="18" charset="0"/>
              </a:rPr>
              <a:t>FastAPI</a:t>
            </a:r>
            <a:r>
              <a:rPr lang="en-IN" sz="2300" dirty="0">
                <a:solidFill>
                  <a:schemeClr val="tx1">
                    <a:lumMod val="95000"/>
                    <a:lumOff val="5000"/>
                  </a:schemeClr>
                </a:solidFill>
                <a:latin typeface="Times New Roman" panose="02020603050405020304" pitchFamily="18" charset="0"/>
                <a:cs typeface="Times New Roman" panose="02020603050405020304" pitchFamily="18" charset="0"/>
              </a:rPr>
              <a:t>, </a:t>
            </a:r>
            <a:r>
              <a:rPr lang="en-IN" sz="2300" dirty="0" err="1">
                <a:solidFill>
                  <a:schemeClr val="tx1">
                    <a:lumMod val="95000"/>
                    <a:lumOff val="5000"/>
                  </a:schemeClr>
                </a:solidFill>
                <a:latin typeface="Times New Roman" panose="02020603050405020304" pitchFamily="18" charset="0"/>
                <a:cs typeface="Times New Roman" panose="02020603050405020304" pitchFamily="18" charset="0"/>
              </a:rPr>
              <a:t>LangChain</a:t>
            </a:r>
            <a:r>
              <a:rPr lang="en-IN" sz="2300" dirty="0">
                <a:solidFill>
                  <a:schemeClr val="tx1">
                    <a:lumMod val="95000"/>
                    <a:lumOff val="5000"/>
                  </a:schemeClr>
                </a:solidFill>
                <a:latin typeface="Times New Roman" panose="02020603050405020304" pitchFamily="18" charset="0"/>
                <a:cs typeface="Times New Roman" panose="02020603050405020304" pitchFamily="18" charset="0"/>
              </a:rPr>
              <a:t>, LLM Integration, RAG Pipeline, REST APIs, JWT Authentication</a:t>
            </a:r>
          </a:p>
          <a:p>
            <a:pPr marL="385763" indent="-385763">
              <a:lnSpc>
                <a:spcPct val="150000"/>
              </a:lnSpc>
              <a:buFont typeface="Wingdings" panose="05000000000000000000" pitchFamily="2" charset="2"/>
              <a:buChar char="Ø"/>
            </a:pPr>
            <a:r>
              <a:rPr lang="en-IN" sz="2300" b="1" dirty="0">
                <a:solidFill>
                  <a:schemeClr val="tx1">
                    <a:lumMod val="95000"/>
                    <a:lumOff val="5000"/>
                  </a:schemeClr>
                </a:solidFill>
                <a:latin typeface="Times New Roman" panose="02020603050405020304" pitchFamily="18" charset="0"/>
                <a:cs typeface="Times New Roman" panose="02020603050405020304" pitchFamily="18" charset="0"/>
              </a:rPr>
              <a:t>Database</a:t>
            </a:r>
            <a:r>
              <a:rPr lang="en-IN" sz="2300" dirty="0">
                <a:solidFill>
                  <a:schemeClr val="tx1">
                    <a:lumMod val="95000"/>
                    <a:lumOff val="5000"/>
                  </a:schemeClr>
                </a:solidFill>
                <a:latin typeface="Times New Roman" panose="02020603050405020304" pitchFamily="18" charset="0"/>
                <a:cs typeface="Times New Roman" panose="02020603050405020304" pitchFamily="18" charset="0"/>
              </a:rPr>
              <a:t> : PostgreSQL</a:t>
            </a:r>
          </a:p>
          <a:p>
            <a:pPr marL="385763" indent="-385763">
              <a:lnSpc>
                <a:spcPct val="150000"/>
              </a:lnSpc>
              <a:buFont typeface="Wingdings" panose="05000000000000000000" pitchFamily="2" charset="2"/>
              <a:buChar char="Ø"/>
            </a:pPr>
            <a:endParaRPr lang="en-IN" sz="2300" b="1" dirty="0">
              <a:solidFill>
                <a:schemeClr val="tx1">
                  <a:lumMod val="95000"/>
                  <a:lumOff val="5000"/>
                </a:schemeClr>
              </a:solidFill>
              <a:latin typeface="Times New Roman" panose="02020603050405020304" pitchFamily="18" charset="0"/>
              <a:cs typeface="Times New Roman" panose="02020603050405020304" pitchFamily="18" charset="0"/>
            </a:endParaRPr>
          </a:p>
          <a:p>
            <a:endParaRPr lang="en-IN" dirty="0"/>
          </a:p>
        </p:txBody>
      </p:sp>
      <p:pic>
        <p:nvPicPr>
          <p:cNvPr id="6" name="Picture 5">
            <a:extLst>
              <a:ext uri="{FF2B5EF4-FFF2-40B4-BE49-F238E27FC236}">
                <a16:creationId xmlns:a16="http://schemas.microsoft.com/office/drawing/2014/main" id="{E4554FBB-A91A-A2BC-E7A5-E3639AEBE9BD}"/>
              </a:ext>
            </a:extLst>
          </p:cNvPr>
          <p:cNvPicPr>
            <a:picLocks noChangeAspect="1"/>
          </p:cNvPicPr>
          <p:nvPr/>
        </p:nvPicPr>
        <p:blipFill>
          <a:blip r:embed="rId2"/>
          <a:stretch>
            <a:fillRect/>
          </a:stretch>
        </p:blipFill>
        <p:spPr>
          <a:xfrm>
            <a:off x="668883" y="529872"/>
            <a:ext cx="341406" cy="317019"/>
          </a:xfrm>
          <a:prstGeom prst="rect">
            <a:avLst/>
          </a:prstGeom>
        </p:spPr>
      </p:pic>
      <p:cxnSp>
        <p:nvCxnSpPr>
          <p:cNvPr id="10" name="Straight Connector 9">
            <a:extLst>
              <a:ext uri="{FF2B5EF4-FFF2-40B4-BE49-F238E27FC236}">
                <a16:creationId xmlns:a16="http://schemas.microsoft.com/office/drawing/2014/main" id="{13B95391-96A5-BB63-1A25-F8FE360FFEAC}"/>
              </a:ext>
            </a:extLst>
          </p:cNvPr>
          <p:cNvCxnSpPr/>
          <p:nvPr/>
        </p:nvCxnSpPr>
        <p:spPr>
          <a:xfrm>
            <a:off x="4414058" y="1152474"/>
            <a:ext cx="0" cy="3452777"/>
          </a:xfrm>
          <a:prstGeom prst="line">
            <a:avLst/>
          </a:prstGeom>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29414284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898329" y="1063869"/>
            <a:ext cx="7689272" cy="4203074"/>
          </a:xfrm>
          <a:prstGeom prst="rect">
            <a:avLst/>
          </a:prstGeom>
        </p:spPr>
        <p:txBody>
          <a:bodyPr wrap="square" lIns="0" tIns="0" rIns="0" bIns="0" rtlCol="0" anchor="t">
            <a:spAutoFit/>
          </a:bodyPr>
          <a:lstStyle/>
          <a:p>
            <a:pPr marL="515621" lvl="1" indent="-342900">
              <a:lnSpc>
                <a:spcPct val="150000"/>
              </a:lnSpc>
              <a:buFont typeface="Wingdings" panose="05000000000000000000" pitchFamily="2" charset="2"/>
              <a:buChar char="Ø"/>
            </a:pPr>
            <a:r>
              <a:rPr lang="en-US" sz="2400" dirty="0">
                <a:latin typeface="Times New Roman"/>
                <a:ea typeface="Times New Roman"/>
                <a:cs typeface="Times New Roman"/>
                <a:sym typeface="Times New Roman"/>
              </a:rPr>
              <a:t>Reduces Manual Effort</a:t>
            </a:r>
          </a:p>
          <a:p>
            <a:pPr marL="515621" lvl="1" indent="-342900">
              <a:lnSpc>
                <a:spcPct val="150000"/>
              </a:lnSpc>
              <a:buFont typeface="Wingdings" panose="05000000000000000000" pitchFamily="2" charset="2"/>
              <a:buChar char="Ø"/>
            </a:pPr>
            <a:r>
              <a:rPr lang="en-US" sz="2400" dirty="0">
                <a:latin typeface="Times New Roman"/>
                <a:ea typeface="Times New Roman"/>
                <a:cs typeface="Times New Roman"/>
                <a:sym typeface="Times New Roman"/>
              </a:rPr>
              <a:t>Supports Multiple Indian Languages</a:t>
            </a:r>
          </a:p>
          <a:p>
            <a:pPr marL="515621" lvl="1" indent="-342900">
              <a:lnSpc>
                <a:spcPct val="150000"/>
              </a:lnSpc>
              <a:buFont typeface="Wingdings" panose="05000000000000000000" pitchFamily="2" charset="2"/>
              <a:buChar char="Ø"/>
            </a:pPr>
            <a:r>
              <a:rPr lang="en-US" sz="2400" dirty="0">
                <a:latin typeface="Times New Roman"/>
                <a:ea typeface="Times New Roman"/>
                <a:cs typeface="Times New Roman"/>
                <a:sym typeface="Times New Roman"/>
              </a:rPr>
              <a:t>Saves Time in Understanding Legal Documents</a:t>
            </a:r>
          </a:p>
          <a:p>
            <a:pPr marL="515621" lvl="1" indent="-342900">
              <a:lnSpc>
                <a:spcPct val="150000"/>
              </a:lnSpc>
              <a:buFont typeface="Wingdings" panose="05000000000000000000" pitchFamily="2" charset="2"/>
              <a:buChar char="Ø"/>
            </a:pPr>
            <a:r>
              <a:rPr lang="en-US" sz="2400" dirty="0">
                <a:latin typeface="Times New Roman"/>
                <a:ea typeface="Times New Roman"/>
                <a:cs typeface="Times New Roman"/>
                <a:sym typeface="Times New Roman"/>
              </a:rPr>
              <a:t>Efficient Legal Document Retrieval</a:t>
            </a:r>
          </a:p>
          <a:p>
            <a:pPr marL="515621" lvl="1" indent="-342900">
              <a:lnSpc>
                <a:spcPct val="150000"/>
              </a:lnSpc>
              <a:buFont typeface="Wingdings" panose="05000000000000000000" pitchFamily="2" charset="2"/>
              <a:buChar char="Ø"/>
            </a:pPr>
            <a:r>
              <a:rPr lang="en-US" sz="2400" dirty="0">
                <a:latin typeface="Times New Roman"/>
                <a:ea typeface="Times New Roman"/>
                <a:cs typeface="Times New Roman"/>
                <a:sym typeface="Times New Roman"/>
              </a:rPr>
              <a:t>Improves Accessibility of Legal Information</a:t>
            </a:r>
          </a:p>
          <a:p>
            <a:pPr marL="515621" lvl="1" indent="-342900">
              <a:lnSpc>
                <a:spcPct val="150000"/>
              </a:lnSpc>
              <a:buFont typeface="Wingdings" panose="05000000000000000000" pitchFamily="2" charset="2"/>
              <a:buChar char="Ø"/>
            </a:pPr>
            <a:r>
              <a:rPr lang="en-US" sz="2400" dirty="0">
                <a:latin typeface="Times New Roman"/>
                <a:ea typeface="Times New Roman"/>
                <a:cs typeface="Times New Roman"/>
                <a:sym typeface="Times New Roman"/>
              </a:rPr>
              <a:t>Handles Large Volumes of Legal Documents</a:t>
            </a:r>
          </a:p>
          <a:p>
            <a:pPr marL="515621" lvl="1" indent="-342900">
              <a:lnSpc>
                <a:spcPct val="150000"/>
              </a:lnSpc>
              <a:buFont typeface="Wingdings" panose="05000000000000000000" pitchFamily="2" charset="2"/>
              <a:buChar char="Ø"/>
            </a:pPr>
            <a:r>
              <a:rPr lang="en-US" sz="2400" dirty="0">
                <a:latin typeface="Times New Roman"/>
                <a:ea typeface="Times New Roman"/>
                <a:cs typeface="Times New Roman"/>
                <a:sym typeface="Times New Roman"/>
              </a:rPr>
              <a:t>Provides an Integrated Legal Document Platform</a:t>
            </a:r>
          </a:p>
          <a:p>
            <a:pPr>
              <a:lnSpc>
                <a:spcPct val="150000"/>
              </a:lnSpc>
            </a:pPr>
            <a:endParaRPr lang="en-US" sz="1600" dirty="0">
              <a:latin typeface="Times New Roman"/>
              <a:ea typeface="Times New Roman"/>
              <a:cs typeface="Times New Roman"/>
              <a:sym typeface="Times New Roman"/>
            </a:endParaRPr>
          </a:p>
        </p:txBody>
      </p:sp>
      <p:sp>
        <p:nvSpPr>
          <p:cNvPr id="4" name="TextBox 3">
            <a:extLst>
              <a:ext uri="{FF2B5EF4-FFF2-40B4-BE49-F238E27FC236}">
                <a16:creationId xmlns:a16="http://schemas.microsoft.com/office/drawing/2014/main" id="{D0FF7097-9101-EC9B-2BFD-A729C000F676}"/>
              </a:ext>
            </a:extLst>
          </p:cNvPr>
          <p:cNvSpPr txBox="1"/>
          <p:nvPr/>
        </p:nvSpPr>
        <p:spPr>
          <a:xfrm>
            <a:off x="1084810" y="294825"/>
            <a:ext cx="6974379" cy="584775"/>
          </a:xfrm>
          <a:prstGeom prst="rect">
            <a:avLst/>
          </a:prstGeom>
          <a:solidFill>
            <a:srgbClr val="CC3300"/>
          </a:solidFill>
        </p:spPr>
        <p:txBody>
          <a:bodyPr wrap="square" rtlCol="0">
            <a:spAutoFit/>
          </a:bodyPr>
          <a:lstStyle/>
          <a:p>
            <a:pPr algn="ctr"/>
            <a:r>
              <a:rPr lang="en-US" sz="3200" b="1" dirty="0">
                <a:latin typeface="Times New Roman Bold"/>
                <a:ea typeface="Times New Roman Bold"/>
                <a:cs typeface="Times New Roman Bold"/>
                <a:sym typeface="Times New Roman Bold"/>
              </a:rPr>
              <a:t>ADVANTAGES</a:t>
            </a:r>
            <a:endParaRPr lang="en-IN" sz="3200" dirty="0"/>
          </a:p>
        </p:txBody>
      </p:sp>
    </p:spTree>
    <p:extLst>
      <p:ext uri="{BB962C8B-B14F-4D97-AF65-F5344CB8AC3E}">
        <p14:creationId xmlns:p14="http://schemas.microsoft.com/office/powerpoint/2010/main" val="22044027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889462" y="1412714"/>
            <a:ext cx="7090756" cy="3593612"/>
          </a:xfrm>
          <a:prstGeom prst="rect">
            <a:avLst/>
          </a:prstGeom>
        </p:spPr>
        <p:txBody>
          <a:bodyPr wrap="square" lIns="0" tIns="0" rIns="0" bIns="0" rtlCol="0" anchor="t">
            <a:spAutoFit/>
          </a:bodyPr>
          <a:lstStyle/>
          <a:p>
            <a:pPr marL="516675" lvl="1" indent="-342900">
              <a:lnSpc>
                <a:spcPct val="150000"/>
              </a:lnSpc>
              <a:buFont typeface="Wingdings" panose="05000000000000000000" pitchFamily="2" charset="2"/>
              <a:buChar char="Ø"/>
            </a:pPr>
            <a:r>
              <a:rPr lang="en-US" sz="2400" dirty="0">
                <a:latin typeface="Times New Roman"/>
                <a:ea typeface="Times New Roman"/>
                <a:cs typeface="Times New Roman"/>
                <a:sym typeface="Times New Roman"/>
              </a:rPr>
              <a:t>Law Firms and Legal Practitioners</a:t>
            </a:r>
          </a:p>
          <a:p>
            <a:pPr marL="516675" lvl="1" indent="-342900">
              <a:lnSpc>
                <a:spcPct val="150000"/>
              </a:lnSpc>
              <a:buFont typeface="Wingdings" panose="05000000000000000000" pitchFamily="2" charset="2"/>
              <a:buChar char="Ø"/>
            </a:pPr>
            <a:r>
              <a:rPr lang="en-US" sz="2400" dirty="0">
                <a:latin typeface="Times New Roman"/>
                <a:ea typeface="Times New Roman"/>
                <a:cs typeface="Times New Roman"/>
                <a:sym typeface="Times New Roman"/>
              </a:rPr>
              <a:t>Courts and Judicial Institutions</a:t>
            </a:r>
          </a:p>
          <a:p>
            <a:pPr marL="516675" lvl="1" indent="-342900">
              <a:lnSpc>
                <a:spcPct val="150000"/>
              </a:lnSpc>
              <a:buFont typeface="Wingdings" panose="05000000000000000000" pitchFamily="2" charset="2"/>
              <a:buChar char="Ø"/>
            </a:pPr>
            <a:r>
              <a:rPr lang="en-US" sz="2400" dirty="0">
                <a:latin typeface="Times New Roman"/>
                <a:ea typeface="Times New Roman"/>
                <a:cs typeface="Times New Roman"/>
                <a:sym typeface="Times New Roman"/>
              </a:rPr>
              <a:t>Government Legal Departments</a:t>
            </a:r>
          </a:p>
          <a:p>
            <a:pPr marL="516675" lvl="1" indent="-342900">
              <a:lnSpc>
                <a:spcPct val="150000"/>
              </a:lnSpc>
              <a:buFont typeface="Wingdings" panose="05000000000000000000" pitchFamily="2" charset="2"/>
              <a:buChar char="Ø"/>
            </a:pPr>
            <a:r>
              <a:rPr lang="en-US" sz="2400" dirty="0">
                <a:latin typeface="Times New Roman"/>
                <a:ea typeface="Times New Roman"/>
                <a:cs typeface="Times New Roman"/>
                <a:sym typeface="Times New Roman"/>
              </a:rPr>
              <a:t>Legal Research and Case Preparation</a:t>
            </a:r>
          </a:p>
          <a:p>
            <a:pPr marL="515621" lvl="1" indent="-342900">
              <a:lnSpc>
                <a:spcPct val="150000"/>
              </a:lnSpc>
              <a:buFont typeface="Wingdings" panose="05000000000000000000" pitchFamily="2" charset="2"/>
              <a:buChar char="Ø"/>
            </a:pPr>
            <a:r>
              <a:rPr lang="en-US" sz="2400" dirty="0">
                <a:latin typeface="Times New Roman"/>
                <a:ea typeface="Times New Roman"/>
                <a:cs typeface="Times New Roman"/>
                <a:sym typeface="Times New Roman"/>
              </a:rPr>
              <a:t>Legal Education and Academic Research</a:t>
            </a:r>
          </a:p>
          <a:p>
            <a:pPr marL="516675" lvl="1" indent="-342900">
              <a:lnSpc>
                <a:spcPct val="150000"/>
              </a:lnSpc>
              <a:buFont typeface="Wingdings" panose="05000000000000000000" pitchFamily="2" charset="2"/>
              <a:buChar char="Ø"/>
            </a:pPr>
            <a:r>
              <a:rPr lang="en-US" sz="2400" dirty="0">
                <a:latin typeface="Times New Roman"/>
                <a:ea typeface="Times New Roman"/>
                <a:cs typeface="Times New Roman"/>
                <a:sym typeface="Times New Roman"/>
              </a:rPr>
              <a:t>Multilingual Legal Document Management</a:t>
            </a:r>
          </a:p>
          <a:p>
            <a:pPr algn="ctr">
              <a:lnSpc>
                <a:spcPts val="2254"/>
              </a:lnSpc>
            </a:pPr>
            <a:endParaRPr lang="en-US" sz="1610" dirty="0">
              <a:latin typeface="Times New Roman"/>
              <a:ea typeface="Times New Roman"/>
              <a:cs typeface="Times New Roman"/>
              <a:sym typeface="Times New Roman"/>
            </a:endParaRPr>
          </a:p>
        </p:txBody>
      </p:sp>
      <p:sp>
        <p:nvSpPr>
          <p:cNvPr id="4" name="TextBox 3">
            <a:extLst>
              <a:ext uri="{FF2B5EF4-FFF2-40B4-BE49-F238E27FC236}">
                <a16:creationId xmlns:a16="http://schemas.microsoft.com/office/drawing/2014/main" id="{6E3CB963-C019-2828-6E47-D0BA278A91CB}"/>
              </a:ext>
            </a:extLst>
          </p:cNvPr>
          <p:cNvSpPr txBox="1"/>
          <p:nvPr/>
        </p:nvSpPr>
        <p:spPr>
          <a:xfrm>
            <a:off x="1126374" y="403444"/>
            <a:ext cx="6891251" cy="584775"/>
          </a:xfrm>
          <a:prstGeom prst="rect">
            <a:avLst/>
          </a:prstGeom>
          <a:solidFill>
            <a:srgbClr val="CC3300"/>
          </a:solidFill>
        </p:spPr>
        <p:txBody>
          <a:bodyPr wrap="square" rtlCol="0">
            <a:spAutoFit/>
          </a:bodyPr>
          <a:lstStyle/>
          <a:p>
            <a:pPr algn="ctr"/>
            <a:r>
              <a:rPr lang="en-US" sz="3200" b="1" dirty="0">
                <a:latin typeface="Times New Roman" panose="02020603050405020304" pitchFamily="18" charset="0"/>
                <a:cs typeface="Times New Roman" panose="02020603050405020304" pitchFamily="18" charset="0"/>
              </a:rPr>
              <a:t>APPLICATIONS</a:t>
            </a:r>
            <a:endParaRPr lang="en-IN" sz="32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485776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731520" y="1099123"/>
            <a:ext cx="7988531" cy="3811621"/>
          </a:xfrm>
          <a:prstGeom prst="rect">
            <a:avLst/>
          </a:prstGeom>
        </p:spPr>
        <p:txBody>
          <a:bodyPr wrap="square" lIns="0" tIns="0" rIns="0" bIns="0" rtlCol="0" anchor="t">
            <a:spAutoFit/>
          </a:bodyPr>
          <a:lstStyle/>
          <a:p>
            <a:pPr marL="458471" lvl="1" indent="-285750">
              <a:lnSpc>
                <a:spcPct val="150000"/>
              </a:lnSpc>
              <a:buFont typeface="Wingdings" panose="05000000000000000000" pitchFamily="2" charset="2"/>
              <a:buChar char="Ø"/>
            </a:pPr>
            <a:r>
              <a:rPr lang="en-US" sz="2400" dirty="0">
                <a:latin typeface="Times New Roman"/>
                <a:ea typeface="Times New Roman"/>
                <a:cs typeface="Times New Roman"/>
                <a:sym typeface="Times New Roman"/>
              </a:rPr>
              <a:t>Expansion to More Languages</a:t>
            </a:r>
          </a:p>
          <a:p>
            <a:pPr marL="458471" lvl="1" indent="-285750">
              <a:lnSpc>
                <a:spcPct val="150000"/>
              </a:lnSpc>
              <a:buFont typeface="Wingdings" panose="05000000000000000000" pitchFamily="2" charset="2"/>
              <a:buChar char="Ø"/>
            </a:pPr>
            <a:r>
              <a:rPr lang="en-US" sz="2400" dirty="0">
                <a:latin typeface="Times New Roman"/>
                <a:ea typeface="Times New Roman"/>
                <a:cs typeface="Times New Roman"/>
                <a:sym typeface="Times New Roman"/>
              </a:rPr>
              <a:t>Large-Scale Legal Document Processing</a:t>
            </a:r>
          </a:p>
          <a:p>
            <a:pPr marL="458471" lvl="1" indent="-285750">
              <a:lnSpc>
                <a:spcPct val="150000"/>
              </a:lnSpc>
              <a:buFont typeface="Wingdings" panose="05000000000000000000" pitchFamily="2" charset="2"/>
              <a:buChar char="Ø"/>
            </a:pPr>
            <a:r>
              <a:rPr lang="en-US" sz="2400" dirty="0">
                <a:latin typeface="Times New Roman"/>
                <a:ea typeface="Times New Roman"/>
                <a:cs typeface="Times New Roman"/>
                <a:sym typeface="Times New Roman"/>
              </a:rPr>
              <a:t>Advanced Legal Document Understanding</a:t>
            </a:r>
          </a:p>
          <a:p>
            <a:pPr marL="458471" lvl="1" indent="-285750">
              <a:lnSpc>
                <a:spcPct val="150000"/>
              </a:lnSpc>
              <a:buFont typeface="Wingdings" panose="05000000000000000000" pitchFamily="2" charset="2"/>
              <a:buChar char="Ø"/>
            </a:pPr>
            <a:r>
              <a:rPr lang="en-US" sz="2400" dirty="0">
                <a:latin typeface="Times New Roman"/>
                <a:ea typeface="Times New Roman"/>
                <a:cs typeface="Times New Roman"/>
                <a:sym typeface="Times New Roman"/>
              </a:rPr>
              <a:t>Improved OCR and Multimodal Processing</a:t>
            </a:r>
          </a:p>
          <a:p>
            <a:pPr marL="458471" lvl="1" indent="-285750">
              <a:lnSpc>
                <a:spcPct val="150000"/>
              </a:lnSpc>
              <a:buFont typeface="Wingdings" panose="05000000000000000000" pitchFamily="2" charset="2"/>
              <a:buChar char="Ø"/>
            </a:pPr>
            <a:r>
              <a:rPr lang="en-US" sz="2400" dirty="0">
                <a:latin typeface="Times New Roman"/>
                <a:ea typeface="Times New Roman"/>
                <a:cs typeface="Times New Roman"/>
                <a:sym typeface="Times New Roman"/>
              </a:rPr>
              <a:t> Explainable and Trustworthy Legal AI</a:t>
            </a:r>
          </a:p>
          <a:p>
            <a:pPr marL="458471" lvl="1" indent="-285750">
              <a:lnSpc>
                <a:spcPct val="150000"/>
              </a:lnSpc>
              <a:buFont typeface="Wingdings" panose="05000000000000000000" pitchFamily="2" charset="2"/>
              <a:buChar char="Ø"/>
            </a:pPr>
            <a:r>
              <a:rPr lang="en-US" sz="2400" dirty="0">
                <a:latin typeface="Times New Roman"/>
                <a:ea typeface="Times New Roman"/>
                <a:cs typeface="Times New Roman"/>
                <a:sym typeface="Times New Roman"/>
              </a:rPr>
              <a:t>Continuous Model Improvement</a:t>
            </a:r>
          </a:p>
          <a:p>
            <a:pPr marL="458471" lvl="1" indent="-285750">
              <a:lnSpc>
                <a:spcPct val="150000"/>
              </a:lnSpc>
              <a:buFont typeface="Wingdings" panose="05000000000000000000" pitchFamily="2" charset="2"/>
              <a:buChar char="Ø"/>
            </a:pPr>
            <a:r>
              <a:rPr lang="en-US" sz="2400" dirty="0">
                <a:latin typeface="Times New Roman"/>
                <a:ea typeface="Times New Roman"/>
                <a:cs typeface="Times New Roman"/>
                <a:sym typeface="Times New Roman"/>
              </a:rPr>
              <a:t>Integration with Legal Workflows</a:t>
            </a:r>
          </a:p>
        </p:txBody>
      </p:sp>
      <p:sp>
        <p:nvSpPr>
          <p:cNvPr id="4" name="TextBox 3">
            <a:extLst>
              <a:ext uri="{FF2B5EF4-FFF2-40B4-BE49-F238E27FC236}">
                <a16:creationId xmlns:a16="http://schemas.microsoft.com/office/drawing/2014/main" id="{F592BECF-98EA-7440-17BE-82C659B69965}"/>
              </a:ext>
            </a:extLst>
          </p:cNvPr>
          <p:cNvSpPr txBox="1"/>
          <p:nvPr/>
        </p:nvSpPr>
        <p:spPr>
          <a:xfrm>
            <a:off x="731520" y="390698"/>
            <a:ext cx="7572895" cy="489878"/>
          </a:xfrm>
          <a:prstGeom prst="rect">
            <a:avLst/>
          </a:prstGeom>
          <a:solidFill>
            <a:srgbClr val="CC3300"/>
          </a:solidFill>
        </p:spPr>
        <p:txBody>
          <a:bodyPr wrap="square" rtlCol="0">
            <a:spAutoFit/>
          </a:bodyPr>
          <a:lstStyle/>
          <a:p>
            <a:pPr algn="ctr">
              <a:lnSpc>
                <a:spcPts val="3080"/>
              </a:lnSpc>
            </a:pPr>
            <a:r>
              <a:rPr lang="en-US" sz="3200" b="1" dirty="0">
                <a:latin typeface="Times New Roman Bold"/>
                <a:ea typeface="Times New Roman Bold"/>
                <a:cs typeface="Times New Roman Bold"/>
                <a:sym typeface="Times New Roman Bold"/>
              </a:rPr>
              <a:t>FUTURE SCOPE</a:t>
            </a:r>
          </a:p>
        </p:txBody>
      </p:sp>
    </p:spTree>
    <p:extLst>
      <p:ext uri="{BB962C8B-B14F-4D97-AF65-F5344CB8AC3E}">
        <p14:creationId xmlns:p14="http://schemas.microsoft.com/office/powerpoint/2010/main" val="1341091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482138" y="1181889"/>
            <a:ext cx="8279477" cy="2798843"/>
          </a:xfrm>
          <a:prstGeom prst="rect">
            <a:avLst/>
          </a:prstGeom>
        </p:spPr>
        <p:txBody>
          <a:bodyPr wrap="square" lIns="0" tIns="0" rIns="0" bIns="0" rtlCol="0" anchor="t">
            <a:spAutoFit/>
          </a:bodyPr>
          <a:lstStyle/>
          <a:p>
            <a:pPr algn="ctr">
              <a:lnSpc>
                <a:spcPts val="2240"/>
              </a:lnSpc>
            </a:pPr>
            <a:endParaRPr sz="2400" dirty="0">
              <a:latin typeface="Times New Roman" panose="02020603050405020304" pitchFamily="18" charset="0"/>
              <a:cs typeface="Times New Roman" panose="02020603050405020304" pitchFamily="18" charset="0"/>
            </a:endParaRPr>
          </a:p>
          <a:p>
            <a:pPr algn="ctr">
              <a:lnSpc>
                <a:spcPts val="2240"/>
              </a:lnSpc>
            </a:pPr>
            <a:r>
              <a:rPr lang="en-US" sz="2400" dirty="0">
                <a:latin typeface="Times New Roman" panose="02020603050405020304" pitchFamily="18" charset="0"/>
                <a:ea typeface="Times New Roman"/>
                <a:cs typeface="Times New Roman" panose="02020603050405020304" pitchFamily="18" charset="0"/>
                <a:sym typeface="Times New Roman"/>
              </a:rPr>
              <a:t>The proposed Smart AI Platform simplifies the classification, summarization, and retrieval of multilingual legal documents. It reduces the time and manual effort required to process large volumes of legal data while helping legal professionals quickly find and understand relevant information. By supporting multiple languages, the platform improves the accessibility, efficiency, and accuracy of legal document management, especially in the Indian legal system.</a:t>
            </a:r>
          </a:p>
          <a:p>
            <a:pPr>
              <a:lnSpc>
                <a:spcPts val="2240"/>
              </a:lnSpc>
            </a:pPr>
            <a:endParaRPr lang="en-US" sz="1600" dirty="0">
              <a:latin typeface="Times New Roman"/>
              <a:ea typeface="Times New Roman"/>
              <a:cs typeface="Times New Roman"/>
              <a:sym typeface="Times New Roman"/>
            </a:endParaRPr>
          </a:p>
        </p:txBody>
      </p:sp>
      <p:sp>
        <p:nvSpPr>
          <p:cNvPr id="4" name="TextBox 3">
            <a:extLst>
              <a:ext uri="{FF2B5EF4-FFF2-40B4-BE49-F238E27FC236}">
                <a16:creationId xmlns:a16="http://schemas.microsoft.com/office/drawing/2014/main" id="{D20FBAAB-313A-E8B3-4B65-E5BC69210E98}"/>
              </a:ext>
            </a:extLst>
          </p:cNvPr>
          <p:cNvSpPr txBox="1"/>
          <p:nvPr/>
        </p:nvSpPr>
        <p:spPr>
          <a:xfrm>
            <a:off x="935181" y="473826"/>
            <a:ext cx="7373389" cy="489878"/>
          </a:xfrm>
          <a:prstGeom prst="rect">
            <a:avLst/>
          </a:prstGeom>
          <a:solidFill>
            <a:srgbClr val="CC3300"/>
          </a:solidFill>
        </p:spPr>
        <p:txBody>
          <a:bodyPr wrap="square" rtlCol="0">
            <a:spAutoFit/>
          </a:bodyPr>
          <a:lstStyle/>
          <a:p>
            <a:pPr algn="ctr">
              <a:lnSpc>
                <a:spcPts val="3080"/>
              </a:lnSpc>
            </a:pPr>
            <a:r>
              <a:rPr lang="en-US" sz="3200" b="1" dirty="0">
                <a:latin typeface="Times New Roman Bold"/>
                <a:ea typeface="Times New Roman Bold"/>
                <a:cs typeface="Times New Roman Bold"/>
                <a:sym typeface="Times New Roman Bold"/>
              </a:rPr>
              <a:t>CONCLUSION</a:t>
            </a:r>
          </a:p>
        </p:txBody>
      </p:sp>
    </p:spTree>
    <p:extLst>
      <p:ext uri="{BB962C8B-B14F-4D97-AF65-F5344CB8AC3E}">
        <p14:creationId xmlns:p14="http://schemas.microsoft.com/office/powerpoint/2010/main" val="3088048590"/>
      </p:ext>
    </p:extLst>
  </p:cSld>
  <p:clrMapOvr>
    <a:masterClrMapping/>
  </p:clrMapOvr>
</p:sld>
</file>

<file path=ppt/theme/theme1.xml><?xml version="1.0" encoding="utf-8"?>
<a:theme xmlns:a="http://schemas.openxmlformats.org/drawingml/2006/main" name="simple-light-2">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290</TotalTime>
  <Words>1203</Words>
  <Application>Microsoft Office PowerPoint</Application>
  <PresentationFormat>On-screen Show (16:9)</PresentationFormat>
  <Paragraphs>191</Paragraphs>
  <Slides>16</Slides>
  <Notes>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Arial</vt:lpstr>
      <vt:lpstr>Arial Rounded</vt:lpstr>
      <vt:lpstr>Calibri</vt:lpstr>
      <vt:lpstr>Times New Roman</vt:lpstr>
      <vt:lpstr>Times New Roman Bold</vt:lpstr>
      <vt:lpstr>Wingdings</vt:lpstr>
      <vt:lpstr>simple-light-2</vt:lpstr>
      <vt:lpstr>Project Title : Smart AI Platform for Multilingual Legal  Document Classification , Summarization and Retrieval </vt:lpstr>
      <vt:lpstr>INTRODUCTION </vt:lpstr>
      <vt:lpstr>PowerPoint Presentation</vt:lpstr>
      <vt:lpstr>PowerPoint Presentation</vt:lpstr>
      <vt:lpstr>PowerPoint Presentation</vt:lpstr>
      <vt:lpstr>PowerPoint Presentation</vt:lpstr>
      <vt:lpstr>PowerPoint Presentation</vt:lpstr>
      <vt:lpstr>Problem Statement </vt:lpstr>
      <vt:lpstr>AIM &amp; OBJECTIVE </vt:lpstr>
      <vt:lpstr>PROPOSED SYSTEM </vt:lpstr>
      <vt:lpstr>SYSTEM REQUIREMENTS </vt:lpstr>
      <vt:lpstr>         Software:  </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 :</dc:title>
  <dc:creator>Adiba</dc:creator>
  <cp:lastModifiedBy>Munira Firdos</cp:lastModifiedBy>
  <cp:revision>8</cp:revision>
  <dcterms:modified xsi:type="dcterms:W3CDTF">2026-08-08T14:25:54Z</dcterms:modified>
</cp:coreProperties>
</file>